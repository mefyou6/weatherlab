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4"/>
  </p:sldMasterIdLst>
  <p:sldIdLst>
    <p:sldId id="256" r:id="rId5"/>
    <p:sldId id="257" r:id="rId6"/>
    <p:sldId id="258" r:id="rId7"/>
    <p:sldId id="259" r:id="rId8"/>
    <p:sldId id="261" r:id="rId9"/>
    <p:sldId id="266" r:id="rId10"/>
    <p:sldId id="260" r:id="rId11"/>
    <p:sldId id="268" r:id="rId12"/>
    <p:sldId id="264" r:id="rId13"/>
    <p:sldId id="262" r:id="rId14"/>
    <p:sldId id="263" r:id="rId15"/>
    <p:sldId id="267" r:id="rId16"/>
  </p:sldIdLst>
  <p:sldSz cx="12192000" cy="6858000"/>
  <p:notesSz cx="6858000" cy="9144000"/>
  <p:embeddedFontLst>
    <p:embeddedFont>
      <p:font typeface="Calibri" panose="020F0502020204030204" pitchFamily="34" charset="0"/>
      <p:regular r:id="rId17"/>
      <p:bold r:id="rId18"/>
      <p:italic r:id="rId19"/>
      <p:boldItalic r:id="rId20"/>
    </p:embeddedFont>
    <p:embeddedFont>
      <p:font typeface="Montserrat" panose="00000500000000000000" pitchFamily="2" charset="0"/>
      <p:regular r:id="rId21"/>
      <p:bold r:id="rId22"/>
      <p:italic r:id="rId23"/>
      <p:boldItalic r:id="rId24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07" d="100"/>
          <a:sy n="107" d="100"/>
        </p:scale>
        <p:origin x="714" y="10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font" Target="fonts/font2.fntdata"/><Relationship Id="rId26" Type="http://schemas.openxmlformats.org/officeDocument/2006/relationships/viewProps" Target="viewProps.xml"/><Relationship Id="rId3" Type="http://schemas.openxmlformats.org/officeDocument/2006/relationships/customXml" Target="../customXml/item3.xml"/><Relationship Id="rId21" Type="http://schemas.openxmlformats.org/officeDocument/2006/relationships/font" Target="fonts/font5.fntdata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font" Target="fonts/font1.fntdata"/><Relationship Id="rId25" Type="http://schemas.openxmlformats.org/officeDocument/2006/relationships/presProps" Target="presProps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font" Target="fonts/font4.fntdata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font" Target="fonts/font8.fntdata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font" Target="fonts/font7.fntdata"/><Relationship Id="rId28" Type="http://schemas.openxmlformats.org/officeDocument/2006/relationships/tableStyles" Target="tableStyles.xml"/><Relationship Id="rId10" Type="http://schemas.openxmlformats.org/officeDocument/2006/relationships/slide" Target="slides/slide6.xml"/><Relationship Id="rId19" Type="http://schemas.openxmlformats.org/officeDocument/2006/relationships/font" Target="fonts/font3.fntdata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font" Target="fonts/font6.fntdata"/><Relationship Id="rId27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9/22/2026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7" Type="http://schemas.openxmlformats.org/officeDocument/2006/relationships/image" Target="../media/image2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.png"/><Relationship Id="rId3" Type="http://schemas.openxmlformats.org/officeDocument/2006/relationships/image" Target="../media/image9.png"/><Relationship Id="rId7" Type="http://schemas.openxmlformats.org/officeDocument/2006/relationships/image" Target="../media/image12.jpe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1.jpeg"/><Relationship Id="rId5" Type="http://schemas.openxmlformats.org/officeDocument/2006/relationships/image" Target="../media/image10.jpeg"/><Relationship Id="rId4" Type="http://schemas.microsoft.com/office/2007/relationships/hdphoto" Target="../media/hdphoto1.wdp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.png"/><Relationship Id="rId3" Type="http://schemas.openxmlformats.org/officeDocument/2006/relationships/image" Target="../media/image16.png"/><Relationship Id="rId7" Type="http://schemas.openxmlformats.org/officeDocument/2006/relationships/image" Target="../media/image20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9.png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.png"/><Relationship Id="rId4" Type="http://schemas.openxmlformats.org/officeDocument/2006/relationships/image" Target="../media/image23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.png"/><Relationship Id="rId5" Type="http://schemas.openxmlformats.org/officeDocument/2006/relationships/image" Target="../media/image29.png"/><Relationship Id="rId4" Type="http://schemas.openxmlformats.org/officeDocument/2006/relationships/image" Target="../media/image28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.png"/><Relationship Id="rId5" Type="http://schemas.openxmlformats.org/officeDocument/2006/relationships/image" Target="../media/image33.png"/><Relationship Id="rId4" Type="http://schemas.openxmlformats.org/officeDocument/2006/relationships/image" Target="../media/image32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5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51F3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609600" y="5667375"/>
            <a:ext cx="10972800" cy="657225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9658350" y="590550"/>
            <a:ext cx="1924050" cy="333375"/>
          </a:xfrm>
          <a:prstGeom prst="roundRect">
            <a:avLst>
              <a:gd name="adj" fmla="val 50000"/>
            </a:avLst>
          </a:prstGeom>
          <a:solidFill>
            <a:srgbClr val="2C35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609600" y="5667375"/>
            <a:ext cx="10972800" cy="952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829800" y="666750"/>
            <a:ext cx="1676400" cy="17312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25" b="1" i="0" u="none" dirty="0">
                <a:solidFill>
                  <a:srgbClr val="CBD5E1"/>
                </a:solidFill>
                <a:latin typeface="Calibri" panose="020F0502020204030204" pitchFamily="34" charset="0"/>
              </a:rPr>
              <a:t>BS 2 Linz | Class 4bITS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45553" y="2713150"/>
            <a:ext cx="2849626" cy="184666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200" b="1" i="0" u="none" dirty="0">
                <a:solidFill>
                  <a:srgbClr val="EF4444"/>
                </a:solidFill>
                <a:latin typeface="Calibri" panose="020F0502020204030204" pitchFamily="34" charset="0"/>
              </a:rPr>
              <a:t>IOT ENVIRONMENTAL MONITORING SYSTEM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969829" y="3017950"/>
            <a:ext cx="8601075" cy="120545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4657"/>
              </a:lnSpc>
            </a:pPr>
            <a:r>
              <a:rPr sz="4050" b="1" i="0" u="none" dirty="0">
                <a:solidFill>
                  <a:srgbClr val="FFFFFF"/>
                </a:solidFill>
                <a:latin typeface="Montserrat"/>
              </a:rPr>
              <a:t>Smart Weather Station &amp; Quality Control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93741" y="4391336"/>
            <a:ext cx="6953250" cy="25019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137"/>
              </a:lnSpc>
            </a:pPr>
            <a:r>
              <a:rPr sz="1425" b="0" i="0" u="none" dirty="0">
                <a:solidFill>
                  <a:srgbClr val="E2E8F0"/>
                </a:solidFill>
                <a:latin typeface="Calibri" panose="020F0502020204030204" pitchFamily="34" charset="0"/>
              </a:rPr>
              <a:t>Continuous atmospheric sensing, local web server visualization, and live forecasting system.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9600" y="5905500"/>
            <a:ext cx="1253548" cy="138499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900" b="1" i="0" u="none" dirty="0">
                <a:solidFill>
                  <a:srgbClr val="EF4444"/>
                </a:solidFill>
                <a:latin typeface="Calibri" panose="020F0502020204030204" pitchFamily="34" charset="0"/>
              </a:rPr>
              <a:t>PROJECT TEAM MEMBERS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36013" y="5962650"/>
            <a:ext cx="846386" cy="138499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/>
            <a:r>
              <a:rPr sz="900" b="0" i="0" u="none" dirty="0">
                <a:solidFill>
                  <a:srgbClr val="94A3B8"/>
                </a:solidFill>
                <a:latin typeface="Calibri" panose="020F0502020204030204" pitchFamily="34" charset="0"/>
              </a:rPr>
              <a:t>Project Assistance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70904" y="6143625"/>
            <a:ext cx="1011495" cy="173124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/>
            <a:r>
              <a:rPr sz="1125" b="1" i="0" u="none" dirty="0">
                <a:solidFill>
                  <a:srgbClr val="FFFFFF"/>
                </a:solidFill>
                <a:latin typeface="Calibri" panose="020F0502020204030204" pitchFamily="34" charset="0"/>
              </a:rPr>
              <a:t>David </a:t>
            </a:r>
            <a:r>
              <a:rPr sz="1125" b="1" i="0" u="none" dirty="0" err="1">
                <a:solidFill>
                  <a:srgbClr val="FFFFFF"/>
                </a:solidFill>
                <a:latin typeface="Calibri" panose="020F0502020204030204" pitchFamily="34" charset="0"/>
              </a:rPr>
              <a:t>Steinegger</a:t>
            </a:r>
            <a:endParaRPr sz="1125" b="1" i="0" u="none" dirty="0">
              <a:solidFill>
                <a:srgbClr val="FFFFFF"/>
              </a:solidFill>
              <a:latin typeface="Calibri" panose="020F0502020204030204" pitchFamily="34" charset="0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609600" y="6143625"/>
            <a:ext cx="856004" cy="173124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125" b="1" i="0" u="none" dirty="0">
                <a:solidFill>
                  <a:srgbClr val="FFFFFF"/>
                </a:solidFill>
                <a:latin typeface="Calibri" panose="020F0502020204030204" pitchFamily="34" charset="0"/>
              </a:rPr>
              <a:t>David </a:t>
            </a:r>
            <a:r>
              <a:rPr sz="1125" b="1" i="0" u="none" dirty="0" err="1">
                <a:solidFill>
                  <a:srgbClr val="FFFFFF"/>
                </a:solidFill>
                <a:latin typeface="Calibri" panose="020F0502020204030204" pitchFamily="34" charset="0"/>
              </a:rPr>
              <a:t>Sageder</a:t>
            </a:r>
            <a:endParaRPr sz="1125" b="1" i="0" u="none" dirty="0">
              <a:solidFill>
                <a:srgbClr val="FFFFFF"/>
              </a:solidFill>
              <a:latin typeface="Calibri" panose="020F0502020204030204" pitchFamily="34" charset="0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1857375" y="6143625"/>
            <a:ext cx="1136530" cy="173124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125" b="1" i="0" u="none" dirty="0">
                <a:solidFill>
                  <a:srgbClr val="FFFFFF"/>
                </a:solidFill>
                <a:latin typeface="Calibri" panose="020F0502020204030204" pitchFamily="34" charset="0"/>
              </a:rPr>
              <a:t>Andrea Roithmeier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381375" y="6143625"/>
            <a:ext cx="780663" cy="173124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125" b="1" i="0" u="none" dirty="0">
                <a:solidFill>
                  <a:srgbClr val="FFFFFF"/>
                </a:solidFill>
                <a:latin typeface="Calibri" panose="020F0502020204030204" pitchFamily="34" charset="0"/>
              </a:rPr>
              <a:t>Fabian Seelig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43425" y="6143625"/>
            <a:ext cx="977832" cy="173124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125" b="1" i="0" u="none" dirty="0">
                <a:solidFill>
                  <a:srgbClr val="FFFFFF"/>
                </a:solidFill>
                <a:latin typeface="Calibri" panose="020F0502020204030204" pitchFamily="34" charset="0"/>
              </a:rPr>
              <a:t>Julian </a:t>
            </a:r>
            <a:r>
              <a:rPr sz="1125" b="1" i="0" u="none" dirty="0" err="1">
                <a:solidFill>
                  <a:srgbClr val="FFFFFF"/>
                </a:solidFill>
                <a:latin typeface="Calibri" panose="020F0502020204030204" pitchFamily="34" charset="0"/>
              </a:rPr>
              <a:t>Weißböck</a:t>
            </a:r>
            <a:endParaRPr sz="1125" b="1" i="0" u="none" dirty="0">
              <a:solidFill>
                <a:srgbClr val="FFFFFF"/>
              </a:solidFill>
              <a:latin typeface="Calibri" panose="020F0502020204030204" pitchFamily="34" charset="0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5924550" y="6143625"/>
            <a:ext cx="1266372" cy="173124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125" b="1" i="0" u="none" dirty="0">
                <a:solidFill>
                  <a:srgbClr val="FFFFFF"/>
                </a:solidFill>
                <a:latin typeface="Calibri" panose="020F0502020204030204" pitchFamily="34" charset="0"/>
              </a:rPr>
              <a:t>Matthias </a:t>
            </a:r>
            <a:r>
              <a:rPr sz="1125" b="1" i="0" u="none" dirty="0" err="1">
                <a:solidFill>
                  <a:srgbClr val="FFFFFF"/>
                </a:solidFill>
                <a:latin typeface="Calibri" panose="020F0502020204030204" pitchFamily="34" charset="0"/>
              </a:rPr>
              <a:t>Winklehner</a:t>
            </a:r>
            <a:endParaRPr sz="1125" b="1" i="0" u="none" dirty="0">
              <a:solidFill>
                <a:srgbClr val="FFFFFF"/>
              </a:solidFill>
              <a:latin typeface="Calibri" panose="020F0502020204030204" pitchFamily="34" charset="0"/>
            </a:endParaRPr>
          </a:p>
        </p:txBody>
      </p:sp>
      <p:pic>
        <p:nvPicPr>
          <p:cNvPr id="20" name="Picture 2">
            <a:extLst>
              <a:ext uri="{FF2B5EF4-FFF2-40B4-BE49-F238E27FC236}">
                <a16:creationId xmlns:a16="http://schemas.microsoft.com/office/drawing/2014/main" id="{377812E7-D787-4C09-A3FF-1FA4FC9B611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8563" y="1091853"/>
            <a:ext cx="9308428" cy="15981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6315075"/>
            <a:ext cx="12192000" cy="542925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6315075"/>
            <a:ext cx="12192000" cy="9525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609600" y="2468760"/>
            <a:ext cx="2072580" cy="3048000"/>
          </a:xfrm>
          <a:prstGeom prst="roundRect">
            <a:avLst>
              <a:gd name="adj" fmla="val 3676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2834580" y="2468760"/>
            <a:ext cx="2072580" cy="3048000"/>
          </a:xfrm>
          <a:prstGeom prst="roundRect">
            <a:avLst>
              <a:gd name="adj" fmla="val 3676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5059560" y="2468760"/>
            <a:ext cx="2072729" cy="3048000"/>
          </a:xfrm>
          <a:prstGeom prst="roundRect">
            <a:avLst>
              <a:gd name="adj" fmla="val 3676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7284690" y="2468760"/>
            <a:ext cx="2072580" cy="3048000"/>
          </a:xfrm>
          <a:prstGeom prst="roundRect">
            <a:avLst>
              <a:gd name="adj" fmla="val 3676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9509670" y="2468760"/>
            <a:ext cx="2072729" cy="3048000"/>
          </a:xfrm>
          <a:prstGeom prst="roundRect">
            <a:avLst>
              <a:gd name="adj" fmla="val 3676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609600" y="2468760"/>
            <a:ext cx="38100" cy="3048000"/>
          </a:xfrm>
          <a:prstGeom prst="rect">
            <a:avLst/>
          </a:prstGeom>
          <a:solidFill>
            <a:srgbClr val="EF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2834580" y="2468760"/>
            <a:ext cx="38100" cy="3048000"/>
          </a:xfrm>
          <a:prstGeom prst="rect">
            <a:avLst/>
          </a:prstGeom>
          <a:solidFill>
            <a:srgbClr val="EF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5059560" y="2468760"/>
            <a:ext cx="38100" cy="3048000"/>
          </a:xfrm>
          <a:prstGeom prst="rect">
            <a:avLst/>
          </a:prstGeom>
          <a:solidFill>
            <a:srgbClr val="EF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7284690" y="2468760"/>
            <a:ext cx="38100" cy="3048000"/>
          </a:xfrm>
          <a:prstGeom prst="rect">
            <a:avLst/>
          </a:prstGeom>
          <a:solidFill>
            <a:srgbClr val="EF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9509670" y="2468760"/>
            <a:ext cx="38100" cy="3048000"/>
          </a:xfrm>
          <a:prstGeom prst="rect">
            <a:avLst/>
          </a:prstGeom>
          <a:solidFill>
            <a:srgbClr val="EF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5" name="Picture 1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" y="5059560"/>
            <a:ext cx="1729680" cy="228600"/>
          </a:xfrm>
          <a:prstGeom prst="rect">
            <a:avLst/>
          </a:prstGeom>
        </p:spPr>
      </p:pic>
      <p:pic>
        <p:nvPicPr>
          <p:cNvPr id="16" name="Picture 1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25080" y="5059560"/>
            <a:ext cx="1729680" cy="228600"/>
          </a:xfrm>
          <a:prstGeom prst="rect">
            <a:avLst/>
          </a:prstGeom>
        </p:spPr>
      </p:pic>
      <p:pic>
        <p:nvPicPr>
          <p:cNvPr id="17" name="Picture 16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50060" y="5059560"/>
            <a:ext cx="1729829" cy="228600"/>
          </a:xfrm>
          <a:prstGeom prst="rect">
            <a:avLst/>
          </a:prstGeom>
        </p:spPr>
      </p:pic>
      <p:pic>
        <p:nvPicPr>
          <p:cNvPr id="18" name="Picture 17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75190" y="5059560"/>
            <a:ext cx="1729680" cy="228600"/>
          </a:xfrm>
          <a:prstGeom prst="rect">
            <a:avLst/>
          </a:prstGeom>
        </p:spPr>
      </p:pic>
      <p:pic>
        <p:nvPicPr>
          <p:cNvPr id="19" name="Picture 18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700170" y="5059560"/>
            <a:ext cx="1729829" cy="22860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0810875" y="376237"/>
            <a:ext cx="615553" cy="161583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050" b="1" i="0" u="none" dirty="0">
                <a:solidFill>
                  <a:srgbClr val="0F172A"/>
                </a:solidFill>
                <a:latin typeface="Calibri" panose="020F0502020204030204" pitchFamily="34" charset="0"/>
              </a:rPr>
              <a:t>OVERVIEW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9600" y="1152525"/>
            <a:ext cx="11582400" cy="36567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2879"/>
              </a:lnSpc>
            </a:pPr>
            <a:r>
              <a:rPr sz="2400" b="1" i="0" u="none">
                <a:solidFill>
                  <a:srgbClr val="0F172A"/>
                </a:solidFill>
                <a:latin typeface="Montserrat"/>
              </a:rPr>
              <a:t>Table of Contents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9600" y="1594395"/>
            <a:ext cx="3312958" cy="184666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200" b="0" i="0" u="none" dirty="0">
                <a:solidFill>
                  <a:srgbClr val="64748B"/>
                </a:solidFill>
                <a:latin typeface="Calibri" panose="020F0502020204030204" pitchFamily="34" charset="0"/>
              </a:rPr>
              <a:t>Key topics and structural agenda for the presentation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9600" y="6477000"/>
            <a:ext cx="1843453" cy="150041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975" b="0" i="0" u="none" dirty="0" err="1">
                <a:solidFill>
                  <a:srgbClr val="0F172A"/>
                </a:solidFill>
                <a:latin typeface="Calibri" panose="020F0502020204030204" pitchFamily="34" charset="0"/>
              </a:rPr>
              <a:t>WeatherLab</a:t>
            </a:r>
            <a:r>
              <a:rPr sz="975" b="0" i="0" u="none" dirty="0">
                <a:solidFill>
                  <a:srgbClr val="0F172A"/>
                </a:solidFill>
                <a:latin typeface="Calibri" panose="020F0502020204030204" pitchFamily="34" charset="0"/>
              </a:rPr>
              <a:t> | Class 4bITS - BS 2 Linz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106150" y="6477000"/>
            <a:ext cx="400751" cy="150041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975" b="0" i="0" u="none" dirty="0">
                <a:solidFill>
                  <a:srgbClr val="0F172A"/>
                </a:solidFill>
                <a:latin typeface="Calibri" panose="020F0502020204030204" pitchFamily="34" charset="0"/>
              </a:rPr>
              <a:t>Slide 02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0100" y="2697360"/>
            <a:ext cx="2162100" cy="37147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2400" b="1" i="0" u="none">
                <a:solidFill>
                  <a:srgbClr val="EF4444"/>
                </a:solidFill>
                <a:latin typeface="Montserrat"/>
              </a:rPr>
              <a:t>01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025080" y="2697360"/>
            <a:ext cx="2162100" cy="37147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2400" b="1" i="0" u="none">
                <a:solidFill>
                  <a:srgbClr val="EF4444"/>
                </a:solidFill>
                <a:latin typeface="Montserrat"/>
              </a:rPr>
              <a:t>02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250060" y="2697360"/>
            <a:ext cx="2162286" cy="37147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2400" b="1" i="0" u="none">
                <a:solidFill>
                  <a:srgbClr val="EF4444"/>
                </a:solidFill>
                <a:latin typeface="Montserrat"/>
              </a:rPr>
              <a:t>03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75190" y="2697360"/>
            <a:ext cx="2162100" cy="37147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2400" b="1" i="0" u="none">
                <a:solidFill>
                  <a:srgbClr val="EF4444"/>
                </a:solidFill>
                <a:latin typeface="Montserrat"/>
              </a:rPr>
              <a:t>04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700170" y="2697360"/>
            <a:ext cx="2162286" cy="37147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2400" b="1" i="0" u="none">
                <a:solidFill>
                  <a:srgbClr val="EF4444"/>
                </a:solidFill>
                <a:latin typeface="Montserrat"/>
              </a:rPr>
              <a:t>05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0100" y="3764160"/>
            <a:ext cx="907236" cy="207749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350" b="1" i="0" u="none" dirty="0">
                <a:solidFill>
                  <a:srgbClr val="0F172A"/>
                </a:solidFill>
                <a:latin typeface="Calibri" panose="020F0502020204030204" pitchFamily="34" charset="0"/>
              </a:rPr>
              <a:t>Who We Are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00100" y="4040385"/>
            <a:ext cx="1824930" cy="3238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 i="0" u="none" dirty="0">
                <a:solidFill>
                  <a:srgbClr val="64748B"/>
                </a:solidFill>
                <a:latin typeface="Calibri" panose="020F0502020204030204" pitchFamily="34" charset="0"/>
              </a:rPr>
              <a:t>Team roles &amp; organizational structure.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025080" y="3764160"/>
            <a:ext cx="974626" cy="207749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350" b="1" i="0" u="none" dirty="0">
                <a:solidFill>
                  <a:srgbClr val="0F172A"/>
                </a:solidFill>
                <a:latin typeface="Calibri" panose="020F0502020204030204" pitchFamily="34" charset="0"/>
              </a:rPr>
              <a:t>Vision &amp; Goal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025080" y="4040385"/>
            <a:ext cx="1824930" cy="3238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 i="0" u="none" dirty="0">
                <a:solidFill>
                  <a:srgbClr val="64748B"/>
                </a:solidFill>
                <a:latin typeface="Calibri" panose="020F0502020204030204" pitchFamily="34" charset="0"/>
              </a:rPr>
              <a:t>IoT station scope &amp; web GUI concept.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250060" y="3764160"/>
            <a:ext cx="1098121" cy="207749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350" b="1" i="0" u="none" dirty="0">
                <a:solidFill>
                  <a:srgbClr val="0F172A"/>
                </a:solidFill>
                <a:latin typeface="Calibri" panose="020F0502020204030204" pitchFamily="34" charset="0"/>
              </a:rPr>
              <a:t>Technical Specs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250060" y="4040385"/>
            <a:ext cx="1825079" cy="3238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 i="0" u="none" dirty="0">
                <a:solidFill>
                  <a:srgbClr val="64748B"/>
                </a:solidFill>
                <a:latin typeface="Calibri" panose="020F0502020204030204" pitchFamily="34" charset="0"/>
              </a:rPr>
              <a:t>Hardware, BME680 &amp; API integration.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475190" y="3764160"/>
            <a:ext cx="621965" cy="207749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350" b="1" i="0" u="none" dirty="0">
                <a:solidFill>
                  <a:srgbClr val="0F172A"/>
                </a:solidFill>
                <a:latin typeface="Calibri" panose="020F0502020204030204" pitchFamily="34" charset="0"/>
              </a:rPr>
              <a:t>Our Plan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475190" y="4040385"/>
            <a:ext cx="1824930" cy="16158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 i="0" u="none" dirty="0">
                <a:solidFill>
                  <a:srgbClr val="64748B"/>
                </a:solidFill>
                <a:latin typeface="Calibri" panose="020F0502020204030204" pitchFamily="34" charset="0"/>
              </a:rPr>
              <a:t>CPM network plan &amp; milestones.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700170" y="3764160"/>
            <a:ext cx="782907" cy="207749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350" b="1" i="0" u="none" dirty="0">
                <a:solidFill>
                  <a:srgbClr val="0F172A"/>
                </a:solidFill>
                <a:latin typeface="Calibri" panose="020F0502020204030204" pitchFamily="34" charset="0"/>
              </a:rPr>
              <a:t>Equipment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700170" y="4040385"/>
            <a:ext cx="1825079" cy="16158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 i="0" u="none" dirty="0">
                <a:solidFill>
                  <a:srgbClr val="64748B"/>
                </a:solidFill>
                <a:latin typeface="Calibri" panose="020F0502020204030204" pitchFamily="34" charset="0"/>
              </a:rPr>
              <a:t>Hardware setup &amp; time tracking.</a:t>
            </a:r>
          </a:p>
        </p:txBody>
      </p:sp>
      <p:pic>
        <p:nvPicPr>
          <p:cNvPr id="41" name="Picture 2">
            <a:extLst>
              <a:ext uri="{FF2B5EF4-FFF2-40B4-BE49-F238E27FC236}">
                <a16:creationId xmlns:a16="http://schemas.microsoft.com/office/drawing/2014/main" id="{6C9C2212-6DF4-4C8F-A197-4E1A7001B7B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22542"/>
            <a:ext cx="2364382" cy="4059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5" name="Grafik 64">
            <a:extLst>
              <a:ext uri="{FF2B5EF4-FFF2-40B4-BE49-F238E27FC236}">
                <a16:creationId xmlns:a16="http://schemas.microsoft.com/office/drawing/2014/main" id="{C202C354-95D0-40FD-8826-5AB7908C9C3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76018" y="2178553"/>
            <a:ext cx="1449492" cy="1820636"/>
          </a:xfrm>
          <a:prstGeom prst="rect">
            <a:avLst/>
          </a:prstGeom>
        </p:spPr>
      </p:pic>
      <p:pic>
        <p:nvPicPr>
          <p:cNvPr id="63" name="Grafik 62">
            <a:extLst>
              <a:ext uri="{FF2B5EF4-FFF2-40B4-BE49-F238E27FC236}">
                <a16:creationId xmlns:a16="http://schemas.microsoft.com/office/drawing/2014/main" id="{9F6A596A-4461-43AF-B042-A9A489C0AD0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10000" b="90000" l="1669" r="98888">
                        <a14:foregroundMark x1="1669" y1="32813" x2="81201" y2="35625"/>
                        <a14:foregroundMark x1="81201" y1="35625" x2="96997" y2="54937"/>
                        <a14:foregroundMark x1="96997" y1="54937" x2="95551" y2="98313"/>
                        <a14:foregroundMark x1="95551" y1="98313" x2="29366" y2="97813"/>
                        <a14:foregroundMark x1="29366" y1="97813" x2="3337" y2="61687"/>
                        <a14:foregroundMark x1="3337" y1="61687" x2="1669" y2="34063"/>
                        <a14:foregroundMark x1="20912" y1="43313" x2="27809" y2="41438"/>
                        <a14:foregroundMark x1="6118" y1="56750" x2="45384" y2="84563"/>
                        <a14:foregroundMark x1="6785" y1="79125" x2="70968" y2="87438"/>
                        <a14:foregroundMark x1="70968" y1="87438" x2="82981" y2="84875"/>
                        <a14:foregroundMark x1="11235" y1="37563" x2="76418" y2="34375"/>
                        <a14:foregroundMark x1="76418" y1="34375" x2="98109" y2="47875"/>
                        <a14:foregroundMark x1="98109" y1="47875" x2="98888" y2="50063"/>
                        <a14:foregroundMark x1="20356" y1="33438" x2="80089" y2="30250"/>
                        <a14:foregroundMark x1="80089" y1="30250" x2="98331" y2="40438"/>
                        <a14:foregroundMark x1="18687" y1="74313" x2="43715" y2="76250"/>
                        <a14:foregroundMark x1="13014" y1="67313" x2="32369" y2="76875"/>
                        <a14:foregroundMark x1="30033" y1="70500" x2="31146" y2="80063"/>
                        <a14:foregroundMark x1="18131" y1="62813" x2="29477" y2="82938"/>
                        <a14:foregroundMark x1="90879" y1="64125" x2="94327" y2="68875"/>
                        <a14:foregroundMark x1="89210" y1="77813" x2="87542" y2="77500"/>
                        <a14:foregroundMark x1="81201" y1="81375" x2="81758" y2="80688"/>
                        <a14:foregroundMark x1="22692" y1="37250" x2="58621" y2="28000"/>
                        <a14:foregroundMark x1="58621" y1="28000" x2="77864" y2="33125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7433176" y="1518195"/>
            <a:ext cx="1576353" cy="2805522"/>
          </a:xfrm>
          <a:prstGeom prst="rect">
            <a:avLst/>
          </a:prstGeom>
        </p:spPr>
      </p:pic>
      <p:pic>
        <p:nvPicPr>
          <p:cNvPr id="61" name="Grafik 60">
            <a:extLst>
              <a:ext uri="{FF2B5EF4-FFF2-40B4-BE49-F238E27FC236}">
                <a16:creationId xmlns:a16="http://schemas.microsoft.com/office/drawing/2014/main" id="{6721E12A-3E4E-46E5-9BF8-8A0249183F4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108892" y="2138243"/>
            <a:ext cx="1973916" cy="1806892"/>
          </a:xfrm>
          <a:prstGeom prst="rect">
            <a:avLst/>
          </a:prstGeom>
        </p:spPr>
      </p:pic>
      <p:pic>
        <p:nvPicPr>
          <p:cNvPr id="40" name="Grafik 39">
            <a:extLst>
              <a:ext uri="{FF2B5EF4-FFF2-40B4-BE49-F238E27FC236}">
                <a16:creationId xmlns:a16="http://schemas.microsoft.com/office/drawing/2014/main" id="{8BA377F0-ADEB-40C2-BCEE-A1992D2E646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228163" y="2265112"/>
            <a:ext cx="1285412" cy="1646990"/>
          </a:xfrm>
          <a:prstGeom prst="rect">
            <a:avLst/>
          </a:prstGeom>
        </p:spPr>
      </p:pic>
      <p:pic>
        <p:nvPicPr>
          <p:cNvPr id="1032" name="Picture 8">
            <a:extLst>
              <a:ext uri="{FF2B5EF4-FFF2-40B4-BE49-F238E27FC236}">
                <a16:creationId xmlns:a16="http://schemas.microsoft.com/office/drawing/2014/main" id="{0389C0DE-D39D-4D18-B73F-2C6B6DE3881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19793" y="2281256"/>
            <a:ext cx="1285172" cy="164356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Rectangle 1"/>
          <p:cNvSpPr/>
          <p:nvPr/>
        </p:nvSpPr>
        <p:spPr>
          <a:xfrm>
            <a:off x="0" y="6315075"/>
            <a:ext cx="12192000" cy="542925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6315075"/>
            <a:ext cx="12192000" cy="9525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Freihandform: Form 53">
            <a:extLst>
              <a:ext uri="{FF2B5EF4-FFF2-40B4-BE49-F238E27FC236}">
                <a16:creationId xmlns:a16="http://schemas.microsoft.com/office/drawing/2014/main" id="{FFC426D8-88D7-4B7E-A6BA-A53A21DDC76B}"/>
              </a:ext>
            </a:extLst>
          </p:cNvPr>
          <p:cNvSpPr/>
          <p:nvPr/>
        </p:nvSpPr>
        <p:spPr>
          <a:xfrm>
            <a:off x="609600" y="1937295"/>
            <a:ext cx="2072580" cy="2912715"/>
          </a:xfrm>
          <a:custGeom>
            <a:avLst/>
            <a:gdLst>
              <a:gd name="connsiteX0" fmla="*/ 1037764 w 2072580"/>
              <a:gd name="connsiteY0" fmla="*/ 424866 h 2912715"/>
              <a:gd name="connsiteX1" fmla="*/ 393455 w 2072580"/>
              <a:gd name="connsiteY1" fmla="*/ 1032557 h 2912715"/>
              <a:gd name="connsiteX2" fmla="*/ 1037764 w 2072580"/>
              <a:gd name="connsiteY2" fmla="*/ 1640248 h 2912715"/>
              <a:gd name="connsiteX3" fmla="*/ 1682073 w 2072580"/>
              <a:gd name="connsiteY3" fmla="*/ 1032557 h 2912715"/>
              <a:gd name="connsiteX4" fmla="*/ 1037764 w 2072580"/>
              <a:gd name="connsiteY4" fmla="*/ 424866 h 2912715"/>
              <a:gd name="connsiteX5" fmla="*/ 138158 w 2072580"/>
              <a:gd name="connsiteY5" fmla="*/ 0 h 2912715"/>
              <a:gd name="connsiteX6" fmla="*/ 1934422 w 2072580"/>
              <a:gd name="connsiteY6" fmla="*/ 0 h 2912715"/>
              <a:gd name="connsiteX7" fmla="*/ 2072580 w 2072580"/>
              <a:gd name="connsiteY7" fmla="*/ 138158 h 2912715"/>
              <a:gd name="connsiteX8" fmla="*/ 2072580 w 2072580"/>
              <a:gd name="connsiteY8" fmla="*/ 2774557 h 2912715"/>
              <a:gd name="connsiteX9" fmla="*/ 1934422 w 2072580"/>
              <a:gd name="connsiteY9" fmla="*/ 2912715 h 2912715"/>
              <a:gd name="connsiteX10" fmla="*/ 138158 w 2072580"/>
              <a:gd name="connsiteY10" fmla="*/ 2912715 h 2912715"/>
              <a:gd name="connsiteX11" fmla="*/ 0 w 2072580"/>
              <a:gd name="connsiteY11" fmla="*/ 2774557 h 2912715"/>
              <a:gd name="connsiteX12" fmla="*/ 0 w 2072580"/>
              <a:gd name="connsiteY12" fmla="*/ 138158 h 2912715"/>
              <a:gd name="connsiteX13" fmla="*/ 138158 w 2072580"/>
              <a:gd name="connsiteY13" fmla="*/ 0 h 291271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2072580" h="2912715">
                <a:moveTo>
                  <a:pt x="1037764" y="424866"/>
                </a:moveTo>
                <a:cubicBezTo>
                  <a:pt x="681922" y="424866"/>
                  <a:pt x="393455" y="696939"/>
                  <a:pt x="393455" y="1032557"/>
                </a:cubicBezTo>
                <a:cubicBezTo>
                  <a:pt x="393455" y="1368175"/>
                  <a:pt x="681922" y="1640248"/>
                  <a:pt x="1037764" y="1640248"/>
                </a:cubicBezTo>
                <a:cubicBezTo>
                  <a:pt x="1393606" y="1640248"/>
                  <a:pt x="1682073" y="1368175"/>
                  <a:pt x="1682073" y="1032557"/>
                </a:cubicBezTo>
                <a:cubicBezTo>
                  <a:pt x="1682073" y="696939"/>
                  <a:pt x="1393606" y="424866"/>
                  <a:pt x="1037764" y="424866"/>
                </a:cubicBezTo>
                <a:close/>
                <a:moveTo>
                  <a:pt x="138158" y="0"/>
                </a:moveTo>
                <a:lnTo>
                  <a:pt x="1934422" y="0"/>
                </a:lnTo>
                <a:cubicBezTo>
                  <a:pt x="2010725" y="0"/>
                  <a:pt x="2072580" y="61855"/>
                  <a:pt x="2072580" y="138158"/>
                </a:cubicBezTo>
                <a:lnTo>
                  <a:pt x="2072580" y="2774557"/>
                </a:lnTo>
                <a:cubicBezTo>
                  <a:pt x="2072580" y="2850860"/>
                  <a:pt x="2010725" y="2912715"/>
                  <a:pt x="1934422" y="2912715"/>
                </a:cubicBezTo>
                <a:lnTo>
                  <a:pt x="138158" y="2912715"/>
                </a:lnTo>
                <a:cubicBezTo>
                  <a:pt x="61855" y="2912715"/>
                  <a:pt x="0" y="2850860"/>
                  <a:pt x="0" y="2774557"/>
                </a:cubicBezTo>
                <a:lnTo>
                  <a:pt x="0" y="138158"/>
                </a:lnTo>
                <a:cubicBezTo>
                  <a:pt x="0" y="61855"/>
                  <a:pt x="61855" y="0"/>
                  <a:pt x="138158" y="0"/>
                </a:cubicBezTo>
                <a:close/>
              </a:path>
            </a:pathLst>
          </a:cu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/>
          </a:p>
        </p:txBody>
      </p:sp>
      <p:sp>
        <p:nvSpPr>
          <p:cNvPr id="55" name="Freihandform: Form 54">
            <a:extLst>
              <a:ext uri="{FF2B5EF4-FFF2-40B4-BE49-F238E27FC236}">
                <a16:creationId xmlns:a16="http://schemas.microsoft.com/office/drawing/2014/main" id="{BAA96F68-CDE5-4015-A67A-4B1F1DC8C6C2}"/>
              </a:ext>
            </a:extLst>
          </p:cNvPr>
          <p:cNvSpPr/>
          <p:nvPr/>
        </p:nvSpPr>
        <p:spPr>
          <a:xfrm>
            <a:off x="2834580" y="1937295"/>
            <a:ext cx="2072580" cy="2912715"/>
          </a:xfrm>
          <a:custGeom>
            <a:avLst/>
            <a:gdLst>
              <a:gd name="connsiteX0" fmla="*/ 1037102 w 2072580"/>
              <a:gd name="connsiteY0" fmla="*/ 424866 h 2912715"/>
              <a:gd name="connsiteX1" fmla="*/ 392793 w 2072580"/>
              <a:gd name="connsiteY1" fmla="*/ 1032557 h 2912715"/>
              <a:gd name="connsiteX2" fmla="*/ 1037102 w 2072580"/>
              <a:gd name="connsiteY2" fmla="*/ 1640248 h 2912715"/>
              <a:gd name="connsiteX3" fmla="*/ 1681411 w 2072580"/>
              <a:gd name="connsiteY3" fmla="*/ 1032557 h 2912715"/>
              <a:gd name="connsiteX4" fmla="*/ 1037102 w 2072580"/>
              <a:gd name="connsiteY4" fmla="*/ 424866 h 2912715"/>
              <a:gd name="connsiteX5" fmla="*/ 138158 w 2072580"/>
              <a:gd name="connsiteY5" fmla="*/ 0 h 2912715"/>
              <a:gd name="connsiteX6" fmla="*/ 1934422 w 2072580"/>
              <a:gd name="connsiteY6" fmla="*/ 0 h 2912715"/>
              <a:gd name="connsiteX7" fmla="*/ 2072580 w 2072580"/>
              <a:gd name="connsiteY7" fmla="*/ 138158 h 2912715"/>
              <a:gd name="connsiteX8" fmla="*/ 2072580 w 2072580"/>
              <a:gd name="connsiteY8" fmla="*/ 2774557 h 2912715"/>
              <a:gd name="connsiteX9" fmla="*/ 1934422 w 2072580"/>
              <a:gd name="connsiteY9" fmla="*/ 2912715 h 2912715"/>
              <a:gd name="connsiteX10" fmla="*/ 138158 w 2072580"/>
              <a:gd name="connsiteY10" fmla="*/ 2912715 h 2912715"/>
              <a:gd name="connsiteX11" fmla="*/ 0 w 2072580"/>
              <a:gd name="connsiteY11" fmla="*/ 2774557 h 2912715"/>
              <a:gd name="connsiteX12" fmla="*/ 0 w 2072580"/>
              <a:gd name="connsiteY12" fmla="*/ 138158 h 2912715"/>
              <a:gd name="connsiteX13" fmla="*/ 138158 w 2072580"/>
              <a:gd name="connsiteY13" fmla="*/ 0 h 291271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2072580" h="2912715">
                <a:moveTo>
                  <a:pt x="1037102" y="424866"/>
                </a:moveTo>
                <a:cubicBezTo>
                  <a:pt x="681260" y="424866"/>
                  <a:pt x="392793" y="696939"/>
                  <a:pt x="392793" y="1032557"/>
                </a:cubicBezTo>
                <a:cubicBezTo>
                  <a:pt x="392793" y="1368175"/>
                  <a:pt x="681260" y="1640248"/>
                  <a:pt x="1037102" y="1640248"/>
                </a:cubicBezTo>
                <a:cubicBezTo>
                  <a:pt x="1392944" y="1640248"/>
                  <a:pt x="1681411" y="1368175"/>
                  <a:pt x="1681411" y="1032557"/>
                </a:cubicBezTo>
                <a:cubicBezTo>
                  <a:pt x="1681411" y="696939"/>
                  <a:pt x="1392944" y="424866"/>
                  <a:pt x="1037102" y="424866"/>
                </a:cubicBezTo>
                <a:close/>
                <a:moveTo>
                  <a:pt x="138158" y="0"/>
                </a:moveTo>
                <a:lnTo>
                  <a:pt x="1934422" y="0"/>
                </a:lnTo>
                <a:cubicBezTo>
                  <a:pt x="2010725" y="0"/>
                  <a:pt x="2072580" y="61855"/>
                  <a:pt x="2072580" y="138158"/>
                </a:cubicBezTo>
                <a:lnTo>
                  <a:pt x="2072580" y="2774557"/>
                </a:lnTo>
                <a:cubicBezTo>
                  <a:pt x="2072580" y="2850860"/>
                  <a:pt x="2010725" y="2912715"/>
                  <a:pt x="1934422" y="2912715"/>
                </a:cubicBezTo>
                <a:lnTo>
                  <a:pt x="138158" y="2912715"/>
                </a:lnTo>
                <a:cubicBezTo>
                  <a:pt x="61855" y="2912715"/>
                  <a:pt x="0" y="2850860"/>
                  <a:pt x="0" y="2774557"/>
                </a:cubicBezTo>
                <a:lnTo>
                  <a:pt x="0" y="138158"/>
                </a:lnTo>
                <a:cubicBezTo>
                  <a:pt x="0" y="61855"/>
                  <a:pt x="61855" y="0"/>
                  <a:pt x="138158" y="0"/>
                </a:cubicBezTo>
                <a:close/>
              </a:path>
            </a:pathLst>
          </a:cu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/>
          </a:p>
        </p:txBody>
      </p:sp>
      <p:sp>
        <p:nvSpPr>
          <p:cNvPr id="56" name="Freihandform: Form 55">
            <a:extLst>
              <a:ext uri="{FF2B5EF4-FFF2-40B4-BE49-F238E27FC236}">
                <a16:creationId xmlns:a16="http://schemas.microsoft.com/office/drawing/2014/main" id="{6081C7EB-D00A-4F37-BD43-0F506B4A4C76}"/>
              </a:ext>
            </a:extLst>
          </p:cNvPr>
          <p:cNvSpPr/>
          <p:nvPr/>
        </p:nvSpPr>
        <p:spPr>
          <a:xfrm>
            <a:off x="5059560" y="1937295"/>
            <a:ext cx="2072580" cy="2912715"/>
          </a:xfrm>
          <a:custGeom>
            <a:avLst/>
            <a:gdLst>
              <a:gd name="connsiteX0" fmla="*/ 1036440 w 2072580"/>
              <a:gd name="connsiteY0" fmla="*/ 424866 h 2912715"/>
              <a:gd name="connsiteX1" fmla="*/ 392131 w 2072580"/>
              <a:gd name="connsiteY1" fmla="*/ 1032557 h 2912715"/>
              <a:gd name="connsiteX2" fmla="*/ 1036440 w 2072580"/>
              <a:gd name="connsiteY2" fmla="*/ 1640248 h 2912715"/>
              <a:gd name="connsiteX3" fmla="*/ 1680749 w 2072580"/>
              <a:gd name="connsiteY3" fmla="*/ 1032557 h 2912715"/>
              <a:gd name="connsiteX4" fmla="*/ 1036440 w 2072580"/>
              <a:gd name="connsiteY4" fmla="*/ 424866 h 2912715"/>
              <a:gd name="connsiteX5" fmla="*/ 138158 w 2072580"/>
              <a:gd name="connsiteY5" fmla="*/ 0 h 2912715"/>
              <a:gd name="connsiteX6" fmla="*/ 1934422 w 2072580"/>
              <a:gd name="connsiteY6" fmla="*/ 0 h 2912715"/>
              <a:gd name="connsiteX7" fmla="*/ 2072580 w 2072580"/>
              <a:gd name="connsiteY7" fmla="*/ 138158 h 2912715"/>
              <a:gd name="connsiteX8" fmla="*/ 2072580 w 2072580"/>
              <a:gd name="connsiteY8" fmla="*/ 2774557 h 2912715"/>
              <a:gd name="connsiteX9" fmla="*/ 1934422 w 2072580"/>
              <a:gd name="connsiteY9" fmla="*/ 2912715 h 2912715"/>
              <a:gd name="connsiteX10" fmla="*/ 138158 w 2072580"/>
              <a:gd name="connsiteY10" fmla="*/ 2912715 h 2912715"/>
              <a:gd name="connsiteX11" fmla="*/ 0 w 2072580"/>
              <a:gd name="connsiteY11" fmla="*/ 2774557 h 2912715"/>
              <a:gd name="connsiteX12" fmla="*/ 0 w 2072580"/>
              <a:gd name="connsiteY12" fmla="*/ 138158 h 2912715"/>
              <a:gd name="connsiteX13" fmla="*/ 138158 w 2072580"/>
              <a:gd name="connsiteY13" fmla="*/ 0 h 291271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2072580" h="2912715">
                <a:moveTo>
                  <a:pt x="1036440" y="424866"/>
                </a:moveTo>
                <a:cubicBezTo>
                  <a:pt x="680598" y="424866"/>
                  <a:pt x="392131" y="696939"/>
                  <a:pt x="392131" y="1032557"/>
                </a:cubicBezTo>
                <a:cubicBezTo>
                  <a:pt x="392131" y="1368175"/>
                  <a:pt x="680598" y="1640248"/>
                  <a:pt x="1036440" y="1640248"/>
                </a:cubicBezTo>
                <a:cubicBezTo>
                  <a:pt x="1392282" y="1640248"/>
                  <a:pt x="1680749" y="1368175"/>
                  <a:pt x="1680749" y="1032557"/>
                </a:cubicBezTo>
                <a:cubicBezTo>
                  <a:pt x="1680749" y="696939"/>
                  <a:pt x="1392282" y="424866"/>
                  <a:pt x="1036440" y="424866"/>
                </a:cubicBezTo>
                <a:close/>
                <a:moveTo>
                  <a:pt x="138158" y="0"/>
                </a:moveTo>
                <a:lnTo>
                  <a:pt x="1934422" y="0"/>
                </a:lnTo>
                <a:cubicBezTo>
                  <a:pt x="2010725" y="0"/>
                  <a:pt x="2072580" y="61855"/>
                  <a:pt x="2072580" y="138158"/>
                </a:cubicBezTo>
                <a:lnTo>
                  <a:pt x="2072580" y="2774557"/>
                </a:lnTo>
                <a:cubicBezTo>
                  <a:pt x="2072580" y="2850860"/>
                  <a:pt x="2010725" y="2912715"/>
                  <a:pt x="1934422" y="2912715"/>
                </a:cubicBezTo>
                <a:lnTo>
                  <a:pt x="138158" y="2912715"/>
                </a:lnTo>
                <a:cubicBezTo>
                  <a:pt x="61855" y="2912715"/>
                  <a:pt x="0" y="2850860"/>
                  <a:pt x="0" y="2774557"/>
                </a:cubicBezTo>
                <a:lnTo>
                  <a:pt x="0" y="138158"/>
                </a:lnTo>
                <a:cubicBezTo>
                  <a:pt x="0" y="61855"/>
                  <a:pt x="61855" y="0"/>
                  <a:pt x="138158" y="0"/>
                </a:cubicBezTo>
                <a:close/>
              </a:path>
            </a:pathLst>
          </a:cu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/>
          </a:p>
        </p:txBody>
      </p:sp>
      <p:sp>
        <p:nvSpPr>
          <p:cNvPr id="59" name="Freihandform: Form 58">
            <a:extLst>
              <a:ext uri="{FF2B5EF4-FFF2-40B4-BE49-F238E27FC236}">
                <a16:creationId xmlns:a16="http://schemas.microsoft.com/office/drawing/2014/main" id="{32273F6D-31D3-4ECC-B984-AE833D1A88A0}"/>
              </a:ext>
            </a:extLst>
          </p:cNvPr>
          <p:cNvSpPr/>
          <p:nvPr/>
        </p:nvSpPr>
        <p:spPr>
          <a:xfrm>
            <a:off x="7284541" y="1937295"/>
            <a:ext cx="2072580" cy="2912715"/>
          </a:xfrm>
          <a:custGeom>
            <a:avLst/>
            <a:gdLst>
              <a:gd name="connsiteX0" fmla="*/ 1035777 w 2072580"/>
              <a:gd name="connsiteY0" fmla="*/ 424866 h 2912715"/>
              <a:gd name="connsiteX1" fmla="*/ 391468 w 2072580"/>
              <a:gd name="connsiteY1" fmla="*/ 1032557 h 2912715"/>
              <a:gd name="connsiteX2" fmla="*/ 1035777 w 2072580"/>
              <a:gd name="connsiteY2" fmla="*/ 1640248 h 2912715"/>
              <a:gd name="connsiteX3" fmla="*/ 1680086 w 2072580"/>
              <a:gd name="connsiteY3" fmla="*/ 1032557 h 2912715"/>
              <a:gd name="connsiteX4" fmla="*/ 1035777 w 2072580"/>
              <a:gd name="connsiteY4" fmla="*/ 424866 h 2912715"/>
              <a:gd name="connsiteX5" fmla="*/ 138158 w 2072580"/>
              <a:gd name="connsiteY5" fmla="*/ 0 h 2912715"/>
              <a:gd name="connsiteX6" fmla="*/ 1934422 w 2072580"/>
              <a:gd name="connsiteY6" fmla="*/ 0 h 2912715"/>
              <a:gd name="connsiteX7" fmla="*/ 2072580 w 2072580"/>
              <a:gd name="connsiteY7" fmla="*/ 138158 h 2912715"/>
              <a:gd name="connsiteX8" fmla="*/ 2072580 w 2072580"/>
              <a:gd name="connsiteY8" fmla="*/ 2774557 h 2912715"/>
              <a:gd name="connsiteX9" fmla="*/ 1934422 w 2072580"/>
              <a:gd name="connsiteY9" fmla="*/ 2912715 h 2912715"/>
              <a:gd name="connsiteX10" fmla="*/ 138158 w 2072580"/>
              <a:gd name="connsiteY10" fmla="*/ 2912715 h 2912715"/>
              <a:gd name="connsiteX11" fmla="*/ 0 w 2072580"/>
              <a:gd name="connsiteY11" fmla="*/ 2774557 h 2912715"/>
              <a:gd name="connsiteX12" fmla="*/ 0 w 2072580"/>
              <a:gd name="connsiteY12" fmla="*/ 138158 h 2912715"/>
              <a:gd name="connsiteX13" fmla="*/ 138158 w 2072580"/>
              <a:gd name="connsiteY13" fmla="*/ 0 h 291271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2072580" h="2912715">
                <a:moveTo>
                  <a:pt x="1035777" y="424866"/>
                </a:moveTo>
                <a:cubicBezTo>
                  <a:pt x="679935" y="424866"/>
                  <a:pt x="391468" y="696939"/>
                  <a:pt x="391468" y="1032557"/>
                </a:cubicBezTo>
                <a:cubicBezTo>
                  <a:pt x="391468" y="1368175"/>
                  <a:pt x="679935" y="1640248"/>
                  <a:pt x="1035777" y="1640248"/>
                </a:cubicBezTo>
                <a:cubicBezTo>
                  <a:pt x="1391619" y="1640248"/>
                  <a:pt x="1680086" y="1368175"/>
                  <a:pt x="1680086" y="1032557"/>
                </a:cubicBezTo>
                <a:cubicBezTo>
                  <a:pt x="1680086" y="696939"/>
                  <a:pt x="1391619" y="424866"/>
                  <a:pt x="1035777" y="424866"/>
                </a:cubicBezTo>
                <a:close/>
                <a:moveTo>
                  <a:pt x="138158" y="0"/>
                </a:moveTo>
                <a:lnTo>
                  <a:pt x="1934422" y="0"/>
                </a:lnTo>
                <a:cubicBezTo>
                  <a:pt x="2010725" y="0"/>
                  <a:pt x="2072580" y="61855"/>
                  <a:pt x="2072580" y="138158"/>
                </a:cubicBezTo>
                <a:lnTo>
                  <a:pt x="2072580" y="2774557"/>
                </a:lnTo>
                <a:cubicBezTo>
                  <a:pt x="2072580" y="2850860"/>
                  <a:pt x="2010725" y="2912715"/>
                  <a:pt x="1934422" y="2912715"/>
                </a:cubicBezTo>
                <a:lnTo>
                  <a:pt x="138158" y="2912715"/>
                </a:lnTo>
                <a:cubicBezTo>
                  <a:pt x="61855" y="2912715"/>
                  <a:pt x="0" y="2850860"/>
                  <a:pt x="0" y="2774557"/>
                </a:cubicBezTo>
                <a:lnTo>
                  <a:pt x="0" y="138158"/>
                </a:lnTo>
                <a:cubicBezTo>
                  <a:pt x="0" y="61855"/>
                  <a:pt x="61855" y="0"/>
                  <a:pt x="138158" y="0"/>
                </a:cubicBezTo>
                <a:close/>
              </a:path>
            </a:pathLst>
          </a:cu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/>
          </a:p>
        </p:txBody>
      </p:sp>
      <p:sp>
        <p:nvSpPr>
          <p:cNvPr id="60" name="Freihandform: Form 59">
            <a:extLst>
              <a:ext uri="{FF2B5EF4-FFF2-40B4-BE49-F238E27FC236}">
                <a16:creationId xmlns:a16="http://schemas.microsoft.com/office/drawing/2014/main" id="{07EDC398-0354-4247-8403-994ABFCEC5F7}"/>
              </a:ext>
            </a:extLst>
          </p:cNvPr>
          <p:cNvSpPr/>
          <p:nvPr/>
        </p:nvSpPr>
        <p:spPr>
          <a:xfrm>
            <a:off x="9509521" y="1937295"/>
            <a:ext cx="2072580" cy="2912715"/>
          </a:xfrm>
          <a:custGeom>
            <a:avLst/>
            <a:gdLst>
              <a:gd name="connsiteX0" fmla="*/ 1035116 w 2072580"/>
              <a:gd name="connsiteY0" fmla="*/ 424866 h 2912715"/>
              <a:gd name="connsiteX1" fmla="*/ 390807 w 2072580"/>
              <a:gd name="connsiteY1" fmla="*/ 1032557 h 2912715"/>
              <a:gd name="connsiteX2" fmla="*/ 1035116 w 2072580"/>
              <a:gd name="connsiteY2" fmla="*/ 1640248 h 2912715"/>
              <a:gd name="connsiteX3" fmla="*/ 1679425 w 2072580"/>
              <a:gd name="connsiteY3" fmla="*/ 1032557 h 2912715"/>
              <a:gd name="connsiteX4" fmla="*/ 1035116 w 2072580"/>
              <a:gd name="connsiteY4" fmla="*/ 424866 h 2912715"/>
              <a:gd name="connsiteX5" fmla="*/ 138158 w 2072580"/>
              <a:gd name="connsiteY5" fmla="*/ 0 h 2912715"/>
              <a:gd name="connsiteX6" fmla="*/ 1934422 w 2072580"/>
              <a:gd name="connsiteY6" fmla="*/ 0 h 2912715"/>
              <a:gd name="connsiteX7" fmla="*/ 2072580 w 2072580"/>
              <a:gd name="connsiteY7" fmla="*/ 138158 h 2912715"/>
              <a:gd name="connsiteX8" fmla="*/ 2072580 w 2072580"/>
              <a:gd name="connsiteY8" fmla="*/ 2774557 h 2912715"/>
              <a:gd name="connsiteX9" fmla="*/ 1934422 w 2072580"/>
              <a:gd name="connsiteY9" fmla="*/ 2912715 h 2912715"/>
              <a:gd name="connsiteX10" fmla="*/ 138158 w 2072580"/>
              <a:gd name="connsiteY10" fmla="*/ 2912715 h 2912715"/>
              <a:gd name="connsiteX11" fmla="*/ 0 w 2072580"/>
              <a:gd name="connsiteY11" fmla="*/ 2774557 h 2912715"/>
              <a:gd name="connsiteX12" fmla="*/ 0 w 2072580"/>
              <a:gd name="connsiteY12" fmla="*/ 138158 h 2912715"/>
              <a:gd name="connsiteX13" fmla="*/ 138158 w 2072580"/>
              <a:gd name="connsiteY13" fmla="*/ 0 h 291271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2072580" h="2912715">
                <a:moveTo>
                  <a:pt x="1035116" y="424866"/>
                </a:moveTo>
                <a:cubicBezTo>
                  <a:pt x="679274" y="424866"/>
                  <a:pt x="390807" y="696939"/>
                  <a:pt x="390807" y="1032557"/>
                </a:cubicBezTo>
                <a:cubicBezTo>
                  <a:pt x="390807" y="1368175"/>
                  <a:pt x="679274" y="1640248"/>
                  <a:pt x="1035116" y="1640248"/>
                </a:cubicBezTo>
                <a:cubicBezTo>
                  <a:pt x="1390958" y="1640248"/>
                  <a:pt x="1679425" y="1368175"/>
                  <a:pt x="1679425" y="1032557"/>
                </a:cubicBezTo>
                <a:cubicBezTo>
                  <a:pt x="1679425" y="696939"/>
                  <a:pt x="1390958" y="424866"/>
                  <a:pt x="1035116" y="424866"/>
                </a:cubicBezTo>
                <a:close/>
                <a:moveTo>
                  <a:pt x="138158" y="0"/>
                </a:moveTo>
                <a:lnTo>
                  <a:pt x="1934422" y="0"/>
                </a:lnTo>
                <a:cubicBezTo>
                  <a:pt x="2010725" y="0"/>
                  <a:pt x="2072580" y="61855"/>
                  <a:pt x="2072580" y="138158"/>
                </a:cubicBezTo>
                <a:lnTo>
                  <a:pt x="2072580" y="2774557"/>
                </a:lnTo>
                <a:cubicBezTo>
                  <a:pt x="2072580" y="2850860"/>
                  <a:pt x="2010725" y="2912715"/>
                  <a:pt x="1934422" y="2912715"/>
                </a:cubicBezTo>
                <a:lnTo>
                  <a:pt x="138158" y="2912715"/>
                </a:lnTo>
                <a:cubicBezTo>
                  <a:pt x="61855" y="2912715"/>
                  <a:pt x="0" y="2850860"/>
                  <a:pt x="0" y="2774557"/>
                </a:cubicBezTo>
                <a:lnTo>
                  <a:pt x="0" y="138158"/>
                </a:lnTo>
                <a:cubicBezTo>
                  <a:pt x="0" y="61855"/>
                  <a:pt x="61855" y="0"/>
                  <a:pt x="138158" y="0"/>
                </a:cubicBezTo>
                <a:close/>
              </a:path>
            </a:pathLst>
          </a:cu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0610850" y="376237"/>
            <a:ext cx="769441" cy="161583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050" b="1" i="0" u="none" dirty="0">
                <a:solidFill>
                  <a:srgbClr val="0F172A"/>
                </a:solidFill>
                <a:latin typeface="Calibri" panose="020F0502020204030204" pitchFamily="34" charset="0"/>
              </a:rPr>
              <a:t>WHO ARE WE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9600" y="1152525"/>
            <a:ext cx="11582400" cy="36567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2879"/>
              </a:lnSpc>
            </a:pPr>
            <a:r>
              <a:rPr sz="2400" b="1" i="0" u="none">
                <a:solidFill>
                  <a:srgbClr val="0F172A"/>
                </a:solidFill>
                <a:latin typeface="Montserrat"/>
              </a:rPr>
              <a:t>Project Team &amp; Roles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9600" y="1594395"/>
            <a:ext cx="3178884" cy="184666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200" b="0" i="0" u="none" dirty="0">
                <a:solidFill>
                  <a:srgbClr val="64748B"/>
                </a:solidFill>
                <a:latin typeface="Calibri" panose="020F0502020204030204" pitchFamily="34" charset="0"/>
              </a:rPr>
              <a:t>Clear task distribution among the 5 team members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9600" y="6477000"/>
            <a:ext cx="1700787" cy="150041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975" b="0" i="0" u="none" dirty="0" err="1">
                <a:solidFill>
                  <a:srgbClr val="0F172A"/>
                </a:solidFill>
                <a:latin typeface="Calibri" panose="020F0502020204030204" pitchFamily="34" charset="0"/>
              </a:rPr>
              <a:t>WeatherLab</a:t>
            </a:r>
            <a:r>
              <a:rPr sz="975" b="0" i="0" u="none" dirty="0">
                <a:solidFill>
                  <a:srgbClr val="0F172A"/>
                </a:solidFill>
                <a:latin typeface="Calibri" panose="020F0502020204030204" pitchFamily="34" charset="0"/>
              </a:rPr>
              <a:t> | Team Organization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106150" y="6477000"/>
            <a:ext cx="400751" cy="150041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975" b="0" i="0" u="none" dirty="0">
                <a:solidFill>
                  <a:srgbClr val="0F172A"/>
                </a:solidFill>
                <a:latin typeface="Calibri" panose="020F0502020204030204" pitchFamily="34" charset="0"/>
              </a:rPr>
              <a:t>Slide 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3055" y="3792735"/>
            <a:ext cx="1285673" cy="19620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/>
            <a:r>
              <a:rPr lang="de-DE" sz="1275" b="1" i="0" u="none" dirty="0">
                <a:solidFill>
                  <a:srgbClr val="0F172A"/>
                </a:solidFill>
                <a:latin typeface="Calibri" panose="020F0502020204030204" pitchFamily="34" charset="0"/>
              </a:rPr>
              <a:t>Andrea Roithmeier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23691" y="4021335"/>
            <a:ext cx="644407" cy="150041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/>
            <a:r>
              <a:rPr lang="de-DE" sz="975" b="1" i="0" u="none" dirty="0">
                <a:solidFill>
                  <a:srgbClr val="EF4444"/>
                </a:solidFill>
                <a:latin typeface="Calibri" panose="020F0502020204030204" pitchFamily="34" charset="0"/>
              </a:rPr>
              <a:t>Project Lead</a:t>
            </a:r>
            <a:endParaRPr sz="975" b="1" i="0" u="none" dirty="0">
              <a:solidFill>
                <a:srgbClr val="EF4444"/>
              </a:solidFill>
              <a:latin typeface="Calibri" panose="020F0502020204030204" pitchFamily="34" charset="0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576746" y="4288035"/>
            <a:ext cx="2138288" cy="16158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lang="en-US" sz="1050" b="0" i="0" u="none" dirty="0">
                <a:solidFill>
                  <a:srgbClr val="475569"/>
                </a:solidFill>
                <a:latin typeface="Calibri" panose="020F0502020204030204" pitchFamily="34" charset="0"/>
              </a:rPr>
              <a:t>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388782" y="3792735"/>
            <a:ext cx="964175" cy="19620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/>
            <a:r>
              <a:rPr lang="de-DE" sz="1275" b="1" i="0" u="none" dirty="0">
                <a:solidFill>
                  <a:srgbClr val="0F172A"/>
                </a:solidFill>
                <a:latin typeface="Calibri" panose="020F0502020204030204" pitchFamily="34" charset="0"/>
              </a:rPr>
              <a:t>David </a:t>
            </a:r>
            <a:r>
              <a:rPr lang="de-DE" sz="1275" b="1" i="0" u="none" dirty="0" err="1">
                <a:solidFill>
                  <a:srgbClr val="0F172A"/>
                </a:solidFill>
                <a:latin typeface="Calibri" panose="020F0502020204030204" pitchFamily="34" charset="0"/>
              </a:rPr>
              <a:t>Sageder</a:t>
            </a:r>
            <a:endParaRPr lang="de-DE" sz="1275" b="1" i="0" u="none" dirty="0">
              <a:solidFill>
                <a:srgbClr val="0F172A"/>
              </a:solidFill>
              <a:latin typeface="Calibri" panose="020F0502020204030204" pitchFamily="34" charset="0"/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2851363" y="4021335"/>
            <a:ext cx="2039021" cy="150041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/>
            <a:r>
              <a:rPr lang="en-US" sz="975" b="1" i="0" u="none" dirty="0">
                <a:solidFill>
                  <a:srgbClr val="EF4444"/>
                </a:solidFill>
                <a:latin typeface="Calibri" panose="020F0502020204030204" pitchFamily="34" charset="0"/>
              </a:rPr>
              <a:t>Vice Project Lead &amp; Hardware Engineer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801726" y="4288035"/>
            <a:ext cx="2138288" cy="3231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lang="en-US" sz="1050" b="0" i="0" u="none" dirty="0">
                <a:solidFill>
                  <a:srgbClr val="475569"/>
                </a:solidFill>
                <a:latin typeface="Calibri" panose="020F0502020204030204" pitchFamily="34" charset="0"/>
              </a:rPr>
              <a:t>Raspberry Pi setup.</a:t>
            </a:r>
            <a:br>
              <a:rPr lang="en-US" sz="1050" b="0" i="0" u="none" dirty="0">
                <a:solidFill>
                  <a:srgbClr val="475569"/>
                </a:solidFill>
                <a:latin typeface="Calibri" panose="020F0502020204030204" pitchFamily="34" charset="0"/>
              </a:rPr>
            </a:br>
            <a:r>
              <a:rPr lang="en-US" sz="1050" b="0" i="0" u="none" dirty="0" err="1">
                <a:solidFill>
                  <a:srgbClr val="475569"/>
                </a:solidFill>
                <a:latin typeface="Calibri" panose="020F0502020204030204" pitchFamily="34" charset="0"/>
              </a:rPr>
              <a:t>OpenWeather</a:t>
            </a:r>
            <a:r>
              <a:rPr lang="en-US" sz="1050" b="0" i="0" u="none" dirty="0">
                <a:solidFill>
                  <a:srgbClr val="475569"/>
                </a:solidFill>
                <a:latin typeface="Calibri" panose="020F0502020204030204" pitchFamily="34" charset="0"/>
              </a:rPr>
              <a:t> API and data logging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654864" y="3792735"/>
            <a:ext cx="881972" cy="19620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1275" b="1" i="0" u="none" dirty="0">
                <a:solidFill>
                  <a:srgbClr val="0F172A"/>
                </a:solidFill>
                <a:latin typeface="Calibri" panose="020F0502020204030204" pitchFamily="34" charset="0"/>
              </a:rPr>
              <a:t>Fabian Seelig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71481" y="4021335"/>
            <a:ext cx="1248739" cy="150041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975" b="1" i="0" u="none" dirty="0">
                <a:solidFill>
                  <a:srgbClr val="EF4444"/>
                </a:solidFill>
                <a:latin typeface="Calibri" panose="020F0502020204030204" pitchFamily="34" charset="0"/>
              </a:rPr>
              <a:t>API &amp; Backend Engineer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26707" y="4288035"/>
            <a:ext cx="2138288" cy="16158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50" b="0" i="0" u="none" dirty="0" err="1">
                <a:solidFill>
                  <a:srgbClr val="475569"/>
                </a:solidFill>
                <a:latin typeface="Calibri" panose="020F0502020204030204" pitchFamily="34" charset="0"/>
              </a:rPr>
              <a:t>OpenWeather</a:t>
            </a:r>
            <a:r>
              <a:rPr sz="1050" b="0" i="0" u="none" dirty="0">
                <a:solidFill>
                  <a:srgbClr val="475569"/>
                </a:solidFill>
                <a:latin typeface="Calibri" panose="020F0502020204030204" pitchFamily="34" charset="0"/>
              </a:rPr>
              <a:t> API and data logging.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767506" y="3792735"/>
            <a:ext cx="1106649" cy="19620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1275" b="1" i="0" u="none" dirty="0">
                <a:solidFill>
                  <a:srgbClr val="0F172A"/>
                </a:solidFill>
                <a:latin typeface="Calibri" panose="020F0502020204030204" pitchFamily="34" charset="0"/>
              </a:rPr>
              <a:t>Julian </a:t>
            </a:r>
            <a:r>
              <a:rPr sz="1275" b="1" i="0" u="none" dirty="0" err="1">
                <a:solidFill>
                  <a:srgbClr val="0F172A"/>
                </a:solidFill>
                <a:latin typeface="Calibri" panose="020F0502020204030204" pitchFamily="34" charset="0"/>
              </a:rPr>
              <a:t>Weißböck</a:t>
            </a:r>
            <a:endParaRPr sz="1275" b="1" i="0" u="none" dirty="0">
              <a:solidFill>
                <a:srgbClr val="0F172A"/>
              </a:solidFill>
              <a:latin typeface="Calibri" panose="020F0502020204030204" pitchFamily="34" charset="0"/>
            </a:endParaRPr>
          </a:p>
        </p:txBody>
      </p:sp>
      <p:sp>
        <p:nvSpPr>
          <p:cNvPr id="31" name="TextBox 30"/>
          <p:cNvSpPr txBox="1"/>
          <p:nvPr/>
        </p:nvSpPr>
        <p:spPr>
          <a:xfrm>
            <a:off x="7915273" y="4021335"/>
            <a:ext cx="811120" cy="150041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/>
            <a:r>
              <a:rPr lang="de-DE" sz="975" b="1" i="0" u="none" dirty="0" err="1">
                <a:solidFill>
                  <a:srgbClr val="EF4444"/>
                </a:solidFill>
                <a:latin typeface="Calibri" panose="020F0502020204030204" pitchFamily="34" charset="0"/>
              </a:rPr>
              <a:t>Documentation</a:t>
            </a:r>
            <a:endParaRPr sz="975" b="1" i="0" u="none" dirty="0">
              <a:solidFill>
                <a:srgbClr val="EF4444"/>
              </a:solidFill>
              <a:latin typeface="Calibri" panose="020F0502020204030204" pitchFamily="34" charset="0"/>
            </a:endParaRPr>
          </a:p>
        </p:txBody>
      </p:sp>
      <p:sp>
        <p:nvSpPr>
          <p:cNvPr id="32" name="TextBox 31"/>
          <p:cNvSpPr txBox="1"/>
          <p:nvPr/>
        </p:nvSpPr>
        <p:spPr>
          <a:xfrm>
            <a:off x="9509521" y="4288035"/>
            <a:ext cx="2138288" cy="16158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50" b="0" i="0" u="none" dirty="0">
                <a:solidFill>
                  <a:srgbClr val="475569"/>
                </a:solidFill>
                <a:latin typeface="Calibri" panose="020F0502020204030204" pitchFamily="34" charset="0"/>
              </a:rPr>
              <a:t>Project webpage and admin docs.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28595" y="3792735"/>
            <a:ext cx="1434431" cy="19620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1275" b="1" i="0" u="none" dirty="0">
                <a:solidFill>
                  <a:srgbClr val="0F172A"/>
                </a:solidFill>
                <a:latin typeface="Calibri" panose="020F0502020204030204" pitchFamily="34" charset="0"/>
              </a:rPr>
              <a:t>Matthias </a:t>
            </a:r>
            <a:r>
              <a:rPr sz="1275" b="1" i="0" u="none" dirty="0" err="1">
                <a:solidFill>
                  <a:srgbClr val="0F172A"/>
                </a:solidFill>
                <a:latin typeface="Calibri" panose="020F0502020204030204" pitchFamily="34" charset="0"/>
              </a:rPr>
              <a:t>Winklehner</a:t>
            </a:r>
            <a:endParaRPr sz="1275" b="1" i="0" u="none" dirty="0">
              <a:solidFill>
                <a:srgbClr val="0F172A"/>
              </a:solidFill>
              <a:latin typeface="Calibri" panose="020F0502020204030204" pitchFamily="34" charset="0"/>
            </a:endParaRPr>
          </a:p>
        </p:txBody>
      </p:sp>
      <p:sp>
        <p:nvSpPr>
          <p:cNvPr id="34" name="TextBox 33"/>
          <p:cNvSpPr txBox="1"/>
          <p:nvPr/>
        </p:nvSpPr>
        <p:spPr>
          <a:xfrm>
            <a:off x="10141858" y="4021335"/>
            <a:ext cx="807913" cy="150041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/>
            <a:r>
              <a:rPr lang="de-DE" sz="975" b="1" i="0" u="none" dirty="0">
                <a:solidFill>
                  <a:srgbClr val="EF4444"/>
                </a:solidFill>
                <a:latin typeface="Calibri" panose="020F0502020204030204" pitchFamily="34" charset="0"/>
              </a:rPr>
              <a:t>Web Developer</a:t>
            </a:r>
            <a:endParaRPr sz="975" b="1" i="0" u="none" dirty="0">
              <a:solidFill>
                <a:srgbClr val="EF4444"/>
              </a:solidFill>
              <a:latin typeface="Calibri" panose="020F0502020204030204" pitchFamily="34" charset="0"/>
            </a:endParaRPr>
          </a:p>
        </p:txBody>
      </p:sp>
      <p:sp>
        <p:nvSpPr>
          <p:cNvPr id="35" name="TextBox 34"/>
          <p:cNvSpPr txBox="1"/>
          <p:nvPr/>
        </p:nvSpPr>
        <p:spPr>
          <a:xfrm>
            <a:off x="7251306" y="4284217"/>
            <a:ext cx="2138288" cy="16158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50" b="0" i="0" u="none" dirty="0">
                <a:solidFill>
                  <a:srgbClr val="475569"/>
                </a:solidFill>
                <a:latin typeface="Calibri" panose="020F0502020204030204" pitchFamily="34" charset="0"/>
              </a:rPr>
              <a:t>Time tracking and weekly reports.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D48DB926-9110-480C-A6C1-002AACB87B1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22542"/>
            <a:ext cx="2364382" cy="4059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6315075"/>
            <a:ext cx="12192000" cy="542925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6315075"/>
            <a:ext cx="12192000" cy="9525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609600" y="2678310"/>
            <a:ext cx="5686425" cy="2628900"/>
          </a:xfrm>
          <a:prstGeom prst="roundRect">
            <a:avLst>
              <a:gd name="adj" fmla="val 5797"/>
            </a:avLst>
          </a:prstGeom>
          <a:solidFill>
            <a:srgbClr val="FEF2F2"/>
          </a:solidFill>
          <a:ln w="9525">
            <a:solidFill>
              <a:srgbClr val="FEE2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6600825" y="2340173"/>
            <a:ext cx="4981575" cy="1000125"/>
          </a:xfrm>
          <a:prstGeom prst="roundRect">
            <a:avLst>
              <a:gd name="adj" fmla="val 7619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6600825" y="3492698"/>
            <a:ext cx="4981575" cy="1000125"/>
          </a:xfrm>
          <a:prstGeom prst="roundRect">
            <a:avLst>
              <a:gd name="adj" fmla="val 7619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6600825" y="4645223"/>
            <a:ext cx="4981575" cy="1000125"/>
          </a:xfrm>
          <a:prstGeom prst="roundRect">
            <a:avLst>
              <a:gd name="adj" fmla="val 7619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6600825" y="2340173"/>
            <a:ext cx="38100" cy="1000125"/>
          </a:xfrm>
          <a:prstGeom prst="rect">
            <a:avLst/>
          </a:prstGeom>
          <a:solidFill>
            <a:srgbClr val="EF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6600825" y="3492698"/>
            <a:ext cx="38100" cy="1000125"/>
          </a:xfrm>
          <a:prstGeom prst="rect">
            <a:avLst/>
          </a:prstGeom>
          <a:solidFill>
            <a:srgbClr val="EF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6600825" y="4645223"/>
            <a:ext cx="38100" cy="1000125"/>
          </a:xfrm>
          <a:prstGeom prst="rect">
            <a:avLst/>
          </a:prstGeom>
          <a:solidFill>
            <a:srgbClr val="EF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2025" y="3030735"/>
            <a:ext cx="266700" cy="266700"/>
          </a:xfrm>
          <a:prstGeom prst="rect">
            <a:avLst/>
          </a:prstGeom>
        </p:spPr>
      </p:pic>
      <p:pic>
        <p:nvPicPr>
          <p:cNvPr id="13" name="Picture 1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2025" y="4173735"/>
            <a:ext cx="133350" cy="152400"/>
          </a:xfrm>
          <a:prstGeom prst="rect">
            <a:avLst/>
          </a:prstGeom>
        </p:spPr>
      </p:pic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2025" y="4478535"/>
            <a:ext cx="133350" cy="152400"/>
          </a:xfrm>
          <a:prstGeom prst="rect">
            <a:avLst/>
          </a:prstGeom>
        </p:spPr>
      </p:pic>
      <p:pic>
        <p:nvPicPr>
          <p:cNvPr id="15" name="Picture 1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2025" y="4783335"/>
            <a:ext cx="133350" cy="1524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0467975" y="376237"/>
            <a:ext cx="867225" cy="161583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050" b="1" i="0" u="none" dirty="0">
                <a:solidFill>
                  <a:srgbClr val="0F172A"/>
                </a:solidFill>
                <a:latin typeface="Calibri" panose="020F0502020204030204" pitchFamily="34" charset="0"/>
              </a:rPr>
              <a:t>VISION &amp; GOAL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9600" y="1152525"/>
            <a:ext cx="11582400" cy="36567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2879"/>
              </a:lnSpc>
            </a:pPr>
            <a:r>
              <a:rPr sz="2400" b="1" i="0" u="none">
                <a:solidFill>
                  <a:srgbClr val="0F172A"/>
                </a:solidFill>
                <a:latin typeface="Montserrat"/>
              </a:rPr>
              <a:t>What is Our Vision?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9600" y="1594395"/>
            <a:ext cx="3800592" cy="184666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200" b="0" i="0" u="none" dirty="0">
                <a:solidFill>
                  <a:srgbClr val="64748B"/>
                </a:solidFill>
                <a:latin typeface="Calibri" panose="020F0502020204030204" pitchFamily="34" charset="0"/>
              </a:rPr>
              <a:t>Compact environmental monitoring with local touch controls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9600" y="6477000"/>
            <a:ext cx="1437894" cy="150041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975" b="0" i="0" u="none" dirty="0" err="1">
                <a:solidFill>
                  <a:srgbClr val="0F172A"/>
                </a:solidFill>
                <a:latin typeface="Calibri" panose="020F0502020204030204" pitchFamily="34" charset="0"/>
              </a:rPr>
              <a:t>WeatherLab</a:t>
            </a:r>
            <a:r>
              <a:rPr sz="975" b="0" i="0" u="none" dirty="0">
                <a:solidFill>
                  <a:srgbClr val="0F172A"/>
                </a:solidFill>
                <a:latin typeface="Calibri" panose="020F0502020204030204" pitchFamily="34" charset="0"/>
              </a:rPr>
              <a:t> | Project Vision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06150" y="6477000"/>
            <a:ext cx="400751" cy="150041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975" b="0" i="0" u="none" dirty="0">
                <a:solidFill>
                  <a:srgbClr val="0F172A"/>
                </a:solidFill>
                <a:latin typeface="Calibri" panose="020F0502020204030204" pitchFamily="34" charset="0"/>
              </a:rPr>
              <a:t>Slide 04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2025" y="3449835"/>
            <a:ext cx="5076825" cy="49455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025"/>
              </a:lnSpc>
            </a:pPr>
            <a:r>
              <a:rPr sz="1350" b="0" i="0" u="none" dirty="0">
                <a:solidFill>
                  <a:srgbClr val="7F1D1D"/>
                </a:solidFill>
                <a:latin typeface="Calibri" panose="020F0502020204030204" pitchFamily="34" charset="0"/>
              </a:rPr>
              <a:t>Build a self-contained IoT weather station providing live indoor air quality readings and outdoor forecast projections.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3025" y="3040260"/>
            <a:ext cx="1143903" cy="253916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650" b="1" i="0" u="none" dirty="0">
                <a:solidFill>
                  <a:srgbClr val="991B1B"/>
                </a:solidFill>
                <a:latin typeface="Calibri" panose="020F0502020204030204" pitchFamily="34" charset="0"/>
              </a:rPr>
              <a:t>Primary Goal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29425" y="2530673"/>
            <a:ext cx="1745799" cy="207749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350" b="1" i="0" u="none" dirty="0">
                <a:solidFill>
                  <a:srgbClr val="0F172A"/>
                </a:solidFill>
                <a:latin typeface="Calibri" panose="020F0502020204030204" pitchFamily="34" charset="0"/>
              </a:rPr>
              <a:t>Live Environmental Data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29425" y="2787848"/>
            <a:ext cx="4657725" cy="17312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25" b="0" i="0" u="none" dirty="0">
                <a:solidFill>
                  <a:srgbClr val="475569"/>
                </a:solidFill>
                <a:latin typeface="Calibri" panose="020F0502020204030204" pitchFamily="34" charset="0"/>
              </a:rPr>
              <a:t>Continuous tracking of room temperature, humidity, pressure, and air quality.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29425" y="3683198"/>
            <a:ext cx="1606402" cy="207749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350" b="1" i="0" u="none" dirty="0">
                <a:solidFill>
                  <a:srgbClr val="0F172A"/>
                </a:solidFill>
                <a:latin typeface="Calibri" panose="020F0502020204030204" pitchFamily="34" charset="0"/>
              </a:rPr>
              <a:t>Integrated Web Server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29425" y="3940373"/>
            <a:ext cx="4657725" cy="17312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25" b="0" i="0" u="none" dirty="0">
                <a:solidFill>
                  <a:srgbClr val="475569"/>
                </a:solidFill>
                <a:latin typeface="Calibri" panose="020F0502020204030204" pitchFamily="34" charset="0"/>
              </a:rPr>
              <a:t>Raspberry Pi hosts local Web-GUI accessible directly on the 7-inch touch screen.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829425" y="4835723"/>
            <a:ext cx="1951368" cy="207749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350" b="1" i="0" u="none" dirty="0">
                <a:solidFill>
                  <a:srgbClr val="0F172A"/>
                </a:solidFill>
                <a:latin typeface="Calibri" panose="020F0502020204030204" pitchFamily="34" charset="0"/>
              </a:rPr>
              <a:t>Documentation Web Portal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29425" y="5092898"/>
            <a:ext cx="4657725" cy="34624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25" b="0" i="0" u="none" dirty="0">
                <a:solidFill>
                  <a:srgbClr val="475569"/>
                </a:solidFill>
                <a:latin typeface="Calibri" panose="020F0502020204030204" pitchFamily="34" charset="0"/>
              </a:rPr>
              <a:t>Dedicated Virtual Machine hosting admin setup guides and smart home features.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90625" y="4154685"/>
            <a:ext cx="1742400" cy="184666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200" b="1" i="0" u="none" dirty="0">
                <a:solidFill>
                  <a:srgbClr val="1E293B"/>
                </a:solidFill>
                <a:latin typeface="Calibri" panose="020F0502020204030204" pitchFamily="34" charset="0"/>
              </a:rPr>
              <a:t>BME680 Sensor Integration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90625" y="4459485"/>
            <a:ext cx="1525161" cy="184666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200" b="1" i="0" u="none" dirty="0">
                <a:solidFill>
                  <a:srgbClr val="1E293B"/>
                </a:solidFill>
                <a:latin typeface="Calibri" panose="020F0502020204030204" pitchFamily="34" charset="0"/>
              </a:rPr>
              <a:t>Local Touch-Display GUI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90625" y="4764285"/>
            <a:ext cx="2122504" cy="184666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200" b="1" i="0" u="none" dirty="0" err="1">
                <a:solidFill>
                  <a:srgbClr val="1E293B"/>
                </a:solidFill>
                <a:latin typeface="Calibri" panose="020F0502020204030204" pitchFamily="34" charset="0"/>
              </a:rPr>
              <a:t>OpenWeather</a:t>
            </a:r>
            <a:r>
              <a:rPr sz="1200" b="1" i="0" u="none" dirty="0">
                <a:solidFill>
                  <a:srgbClr val="1E293B"/>
                </a:solidFill>
                <a:latin typeface="Calibri" panose="020F0502020204030204" pitchFamily="34" charset="0"/>
              </a:rPr>
              <a:t> API 3-Day Forecast</a:t>
            </a:r>
          </a:p>
        </p:txBody>
      </p:sp>
      <p:pic>
        <p:nvPicPr>
          <p:cNvPr id="33" name="Picture 2">
            <a:extLst>
              <a:ext uri="{FF2B5EF4-FFF2-40B4-BE49-F238E27FC236}">
                <a16:creationId xmlns:a16="http://schemas.microsoft.com/office/drawing/2014/main" id="{D86D1248-2DAB-4867-82FC-9727FA13820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22542"/>
            <a:ext cx="2364382" cy="4059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6315075"/>
            <a:ext cx="12192000" cy="542925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6315075"/>
            <a:ext cx="12192000" cy="9525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609600" y="2725935"/>
            <a:ext cx="2443162" cy="1295400"/>
          </a:xfrm>
          <a:prstGeom prst="roundRect">
            <a:avLst>
              <a:gd name="adj" fmla="val 8823"/>
            </a:avLst>
          </a:prstGeom>
          <a:solidFill>
            <a:srgbClr val="F8FAFC"/>
          </a:solidFill>
          <a:ln w="190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3452812" y="2802135"/>
            <a:ext cx="2443162" cy="1143000"/>
          </a:xfrm>
          <a:prstGeom prst="roundRect">
            <a:avLst>
              <a:gd name="adj" fmla="val 10000"/>
            </a:avLst>
          </a:prstGeom>
          <a:solidFill>
            <a:srgbClr val="FEF2F2"/>
          </a:solidFill>
          <a:ln w="19050">
            <a:solidFill>
              <a:srgbClr val="FCA5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6296025" y="2802135"/>
            <a:ext cx="2443162" cy="1143000"/>
          </a:xfrm>
          <a:prstGeom prst="roundRect">
            <a:avLst>
              <a:gd name="adj" fmla="val 10000"/>
            </a:avLst>
          </a:prstGeom>
          <a:solidFill>
            <a:srgbClr val="F8FAFC"/>
          </a:solidFill>
          <a:ln w="190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9139237" y="2802135"/>
            <a:ext cx="2443162" cy="1143000"/>
          </a:xfrm>
          <a:prstGeom prst="roundRect">
            <a:avLst>
              <a:gd name="adj" fmla="val 10000"/>
            </a:avLst>
          </a:prstGeom>
          <a:solidFill>
            <a:srgbClr val="F8FAFC"/>
          </a:solidFill>
          <a:ln w="190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609600" y="4326135"/>
            <a:ext cx="5391150" cy="933450"/>
          </a:xfrm>
          <a:prstGeom prst="roundRect">
            <a:avLst>
              <a:gd name="adj" fmla="val 8163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6191250" y="4326135"/>
            <a:ext cx="5391150" cy="933450"/>
          </a:xfrm>
          <a:prstGeom prst="roundRect">
            <a:avLst>
              <a:gd name="adj" fmla="val 8163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609600" y="4326135"/>
            <a:ext cx="38100" cy="933450"/>
          </a:xfrm>
          <a:prstGeom prst="rect">
            <a:avLst/>
          </a:prstGeom>
          <a:solidFill>
            <a:srgbClr val="EF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6191250" y="4326135"/>
            <a:ext cx="38100" cy="933450"/>
          </a:xfrm>
          <a:prstGeom prst="rect">
            <a:avLst/>
          </a:prstGeom>
          <a:solidFill>
            <a:srgbClr val="EF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3" name="Picture 1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67062" y="3278385"/>
            <a:ext cx="171450" cy="190500"/>
          </a:xfrm>
          <a:prstGeom prst="rect">
            <a:avLst/>
          </a:prstGeom>
        </p:spPr>
      </p:pic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10275" y="3278385"/>
            <a:ext cx="171450" cy="190500"/>
          </a:xfrm>
          <a:prstGeom prst="rect">
            <a:avLst/>
          </a:prstGeom>
        </p:spPr>
      </p:pic>
      <p:pic>
        <p:nvPicPr>
          <p:cNvPr id="15" name="Picture 1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53487" y="3278385"/>
            <a:ext cx="171450" cy="190500"/>
          </a:xfrm>
          <a:prstGeom prst="rect">
            <a:avLst/>
          </a:prstGeom>
        </p:spPr>
      </p:pic>
      <p:pic>
        <p:nvPicPr>
          <p:cNvPr id="16" name="Picture 15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78781" y="2935485"/>
            <a:ext cx="304800" cy="266700"/>
          </a:xfrm>
          <a:prstGeom prst="rect">
            <a:avLst/>
          </a:prstGeom>
        </p:spPr>
      </p:pic>
      <p:pic>
        <p:nvPicPr>
          <p:cNvPr id="17" name="Picture 16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69618" y="3011685"/>
            <a:ext cx="209550" cy="266700"/>
          </a:xfrm>
          <a:prstGeom prst="rect">
            <a:avLst/>
          </a:prstGeom>
        </p:spPr>
      </p:pic>
      <p:pic>
        <p:nvPicPr>
          <p:cNvPr id="18" name="Picture 17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50918" y="3011685"/>
            <a:ext cx="333375" cy="266700"/>
          </a:xfrm>
          <a:prstGeom prst="rect">
            <a:avLst/>
          </a:prstGeom>
        </p:spPr>
      </p:pic>
      <p:pic>
        <p:nvPicPr>
          <p:cNvPr id="19" name="Picture 18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208418" y="3011685"/>
            <a:ext cx="304800" cy="26670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0458450" y="376237"/>
            <a:ext cx="847989" cy="161583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050" b="1" i="0" u="none" dirty="0">
                <a:solidFill>
                  <a:srgbClr val="0F172A"/>
                </a:solidFill>
                <a:latin typeface="Calibri" panose="020F0502020204030204" pitchFamily="34" charset="0"/>
              </a:rPr>
              <a:t>ARCHITECTURE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9600" y="1152525"/>
            <a:ext cx="11582400" cy="36567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2879"/>
              </a:lnSpc>
            </a:pPr>
            <a:r>
              <a:rPr sz="2400" b="1" i="0" u="none">
                <a:solidFill>
                  <a:srgbClr val="0F172A"/>
                </a:solidFill>
                <a:latin typeface="Montserrat"/>
              </a:rPr>
              <a:t>System Architecture &amp; Flow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9600" y="1594395"/>
            <a:ext cx="4101700" cy="184666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200" b="0" i="0" u="none" dirty="0">
                <a:solidFill>
                  <a:srgbClr val="64748B"/>
                </a:solidFill>
                <a:latin typeface="Calibri" panose="020F0502020204030204" pitchFamily="34" charset="0"/>
              </a:rPr>
              <a:t>Data pipeline from hardware sensors to touchscreen presentation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9600" y="6477000"/>
            <a:ext cx="1768113" cy="150041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975" b="0" i="0" u="none" dirty="0" err="1">
                <a:solidFill>
                  <a:srgbClr val="0F172A"/>
                </a:solidFill>
                <a:latin typeface="Calibri" panose="020F0502020204030204" pitchFamily="34" charset="0"/>
              </a:rPr>
              <a:t>WeatherLab</a:t>
            </a:r>
            <a:r>
              <a:rPr sz="975" b="0" i="0" u="none" dirty="0">
                <a:solidFill>
                  <a:srgbClr val="0F172A"/>
                </a:solidFill>
                <a:latin typeface="Calibri" panose="020F0502020204030204" pitchFamily="34" charset="0"/>
              </a:rPr>
              <a:t> | System Architecture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106150" y="6477000"/>
            <a:ext cx="400751" cy="150041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975" b="0" i="0" u="none" dirty="0">
                <a:solidFill>
                  <a:srgbClr val="0F172A"/>
                </a:solidFill>
                <a:latin typeface="Calibri" panose="020F0502020204030204" pitchFamily="34" charset="0"/>
              </a:rPr>
              <a:t>Slide 06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31846" y="3278385"/>
            <a:ext cx="998670" cy="184666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1200" b="1" i="0" u="none" dirty="0">
                <a:solidFill>
                  <a:srgbClr val="0F172A"/>
                </a:solidFill>
                <a:latin typeface="Calibri" panose="020F0502020204030204" pitchFamily="34" charset="0"/>
              </a:rPr>
              <a:t>BME680 Sensor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66142" y="3506985"/>
            <a:ext cx="2530078" cy="15004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975" b="0" i="0" u="none" dirty="0">
                <a:solidFill>
                  <a:srgbClr val="64748B"/>
                </a:solidFill>
                <a:latin typeface="Calibri" panose="020F0502020204030204" pitchFamily="34" charset="0"/>
              </a:rPr>
              <a:t>Temp, Air Quality, Humidity, Pressure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272488" y="3354585"/>
            <a:ext cx="803810" cy="184666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1200" b="1" i="0" u="none" dirty="0">
                <a:solidFill>
                  <a:srgbClr val="991B1B"/>
                </a:solidFill>
                <a:latin typeface="Calibri" panose="020F0502020204030204" pitchFamily="34" charset="0"/>
              </a:rPr>
              <a:t>Raspberry Pi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892127" y="3583185"/>
            <a:ext cx="1564531" cy="150041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975" b="0" i="0" u="none" dirty="0">
                <a:solidFill>
                  <a:srgbClr val="7F1D1D"/>
                </a:solidFill>
                <a:latin typeface="Calibri" panose="020F0502020204030204" pitchFamily="34" charset="0"/>
              </a:rPr>
              <a:t>Data Processing &amp; Local Server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941583" y="3354585"/>
            <a:ext cx="1152046" cy="184666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1200" b="1" i="0" u="none" dirty="0" err="1">
                <a:solidFill>
                  <a:srgbClr val="0F172A"/>
                </a:solidFill>
                <a:latin typeface="Calibri" panose="020F0502020204030204" pitchFamily="34" charset="0"/>
              </a:rPr>
              <a:t>OpenWeather</a:t>
            </a:r>
            <a:r>
              <a:rPr sz="1200" b="1" i="0" u="none" dirty="0">
                <a:solidFill>
                  <a:srgbClr val="0F172A"/>
                </a:solidFill>
                <a:latin typeface="Calibri" panose="020F0502020204030204" pitchFamily="34" charset="0"/>
              </a:rPr>
              <a:t> API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783430" y="3583185"/>
            <a:ext cx="1468351" cy="150041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975" b="0" i="0" u="none" dirty="0">
                <a:solidFill>
                  <a:srgbClr val="64748B"/>
                </a:solidFill>
                <a:latin typeface="Calibri" panose="020F0502020204030204" pitchFamily="34" charset="0"/>
              </a:rPr>
              <a:t>External 3-Day Forecast Data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943460" y="3354585"/>
            <a:ext cx="834716" cy="184666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1200" b="1" i="0" u="none" dirty="0">
                <a:solidFill>
                  <a:srgbClr val="0F172A"/>
                </a:solidFill>
                <a:latin typeface="Calibri" panose="020F0502020204030204" pitchFamily="34" charset="0"/>
              </a:rPr>
              <a:t>7" Touch GUI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637062" y="3583185"/>
            <a:ext cx="1447511" cy="150041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975" b="0" i="0" u="none" dirty="0">
                <a:solidFill>
                  <a:srgbClr val="64748B"/>
                </a:solidFill>
                <a:latin typeface="Calibri" panose="020F0502020204030204" pitchFamily="34" charset="0"/>
              </a:rPr>
              <a:t>Interactive Live Visualization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38200" y="4516635"/>
            <a:ext cx="1787862" cy="184666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200" b="1" i="0" u="none" dirty="0">
                <a:solidFill>
                  <a:srgbClr val="0F172A"/>
                </a:solidFill>
                <a:latin typeface="Calibri" panose="020F0502020204030204" pitchFamily="34" charset="0"/>
              </a:rPr>
              <a:t>Continuous Interval Logging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38200" y="4745235"/>
            <a:ext cx="5067300" cy="16158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 i="0" u="none" dirty="0">
                <a:solidFill>
                  <a:srgbClr val="475569"/>
                </a:solidFill>
                <a:latin typeface="Calibri" panose="020F0502020204030204" pitchFamily="34" charset="0"/>
              </a:rPr>
              <a:t>Sensors read environment at fixed intervals and store values locally for analysis.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19850" y="4516635"/>
            <a:ext cx="2057166" cy="184666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200" b="1" i="0" u="none" dirty="0">
                <a:solidFill>
                  <a:srgbClr val="0F172A"/>
                </a:solidFill>
                <a:latin typeface="Calibri" panose="020F0502020204030204" pitchFamily="34" charset="0"/>
              </a:rPr>
              <a:t>Documentation Virtual Machine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19850" y="4745235"/>
            <a:ext cx="5067300" cy="16158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 i="0" u="none" dirty="0">
                <a:solidFill>
                  <a:srgbClr val="475569"/>
                </a:solidFill>
                <a:latin typeface="Calibri" panose="020F0502020204030204" pitchFamily="34" charset="0"/>
              </a:rPr>
              <a:t>Independent VM web server serving administrator setup guides and system manuals.</a:t>
            </a:r>
          </a:p>
        </p:txBody>
      </p:sp>
      <p:pic>
        <p:nvPicPr>
          <p:cNvPr id="38" name="Picture 2">
            <a:extLst>
              <a:ext uri="{FF2B5EF4-FFF2-40B4-BE49-F238E27FC236}">
                <a16:creationId xmlns:a16="http://schemas.microsoft.com/office/drawing/2014/main" id="{CB108AB2-713B-4ACF-98C3-F23D67F68BF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22542"/>
            <a:ext cx="2364382" cy="4059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6315075"/>
            <a:ext cx="12192000" cy="542925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6315075"/>
            <a:ext cx="12192000" cy="9525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609600" y="2051595"/>
            <a:ext cx="3505200" cy="3882479"/>
          </a:xfrm>
          <a:prstGeom prst="roundRect">
            <a:avLst>
              <a:gd name="adj" fmla="val 326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4343400" y="2051595"/>
            <a:ext cx="3505200" cy="3882479"/>
          </a:xfrm>
          <a:prstGeom prst="roundRect">
            <a:avLst>
              <a:gd name="adj" fmla="val 326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8077200" y="2051595"/>
            <a:ext cx="3505200" cy="3882479"/>
          </a:xfrm>
          <a:prstGeom prst="roundRect">
            <a:avLst>
              <a:gd name="adj" fmla="val 326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5825" y="2327820"/>
            <a:ext cx="333375" cy="342900"/>
          </a:xfrm>
          <a:prstGeom prst="rect">
            <a:avLst/>
          </a:prstGeom>
        </p:spPr>
      </p:pic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19625" y="2327820"/>
            <a:ext cx="257175" cy="342900"/>
          </a:xfrm>
          <a:prstGeom prst="rect">
            <a:avLst/>
          </a:prstGeom>
        </p:spPr>
      </p:pic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53425" y="2327820"/>
            <a:ext cx="390525" cy="3429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0848975" y="376237"/>
            <a:ext cx="561051" cy="161583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050" b="1" i="0" u="none" dirty="0">
                <a:solidFill>
                  <a:srgbClr val="0F172A"/>
                </a:solidFill>
                <a:latin typeface="Calibri" panose="020F0502020204030204" pitchFamily="34" charset="0"/>
              </a:rPr>
              <a:t>OUTLOOK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9600" y="1152525"/>
            <a:ext cx="11582400" cy="36567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2879"/>
              </a:lnSpc>
            </a:pPr>
            <a:r>
              <a:rPr sz="2400" b="1" i="0" u="none">
                <a:solidFill>
                  <a:srgbClr val="0F172A"/>
                </a:solidFill>
                <a:latin typeface="Montserrat"/>
              </a:rPr>
              <a:t>Smart Home &amp; Future Outlook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9600" y="1594395"/>
            <a:ext cx="3736216" cy="184666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200" b="0" i="0" u="none" dirty="0">
                <a:solidFill>
                  <a:srgbClr val="64748B"/>
                </a:solidFill>
                <a:latin typeface="Calibri" panose="020F0502020204030204" pitchFamily="34" charset="0"/>
              </a:rPr>
              <a:t>Potential expansions and advanced automation integrations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9600" y="6477000"/>
            <a:ext cx="1804981" cy="150041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975" b="0" i="0" u="none" dirty="0" err="1">
                <a:solidFill>
                  <a:srgbClr val="0F172A"/>
                </a:solidFill>
                <a:latin typeface="Calibri" panose="020F0502020204030204" pitchFamily="34" charset="0"/>
              </a:rPr>
              <a:t>WeatherLab</a:t>
            </a:r>
            <a:r>
              <a:rPr sz="975" b="0" i="0" u="none" dirty="0">
                <a:solidFill>
                  <a:srgbClr val="0F172A"/>
                </a:solidFill>
                <a:latin typeface="Calibri" panose="020F0502020204030204" pitchFamily="34" charset="0"/>
              </a:rPr>
              <a:t> | Expansion &amp; Outlook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63300" y="6477000"/>
            <a:ext cx="400751" cy="150041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975" b="0" i="0" u="none" dirty="0">
                <a:solidFill>
                  <a:srgbClr val="0F172A"/>
                </a:solidFill>
                <a:latin typeface="Calibri" panose="020F0502020204030204" pitchFamily="34" charset="0"/>
              </a:rPr>
              <a:t>Slide 11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85825" y="5514975"/>
            <a:ext cx="602729" cy="138499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900" b="1" i="0" u="none" dirty="0">
                <a:solidFill>
                  <a:srgbClr val="0088CC"/>
                </a:solidFill>
                <a:latin typeface="Calibri" panose="020F0502020204030204" pitchFamily="34" charset="0"/>
              </a:rPr>
              <a:t>CAN Feature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19625" y="5514975"/>
            <a:ext cx="602729" cy="138499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900" b="1" i="0" u="none" dirty="0">
                <a:solidFill>
                  <a:srgbClr val="0F172A"/>
                </a:solidFill>
                <a:latin typeface="Calibri" panose="020F0502020204030204" pitchFamily="34" charset="0"/>
              </a:rPr>
              <a:t>CAN Feature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53425" y="5514975"/>
            <a:ext cx="1165384" cy="138499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900" b="1" i="0" u="none" dirty="0">
                <a:solidFill>
                  <a:srgbClr val="EF4444"/>
                </a:solidFill>
                <a:latin typeface="Calibri" panose="020F0502020204030204" pitchFamily="34" charset="0"/>
              </a:rPr>
              <a:t>Smart Home Integration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85825" y="2823120"/>
            <a:ext cx="1654940" cy="207749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350" b="1" i="0" u="none" dirty="0">
                <a:solidFill>
                  <a:srgbClr val="0F172A"/>
                </a:solidFill>
                <a:latin typeface="Calibri" panose="020F0502020204030204" pitchFamily="34" charset="0"/>
              </a:rPr>
              <a:t>Telegram Bot Warnings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85825" y="3099345"/>
            <a:ext cx="3048000" cy="3945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575"/>
              </a:lnSpc>
            </a:pPr>
            <a:r>
              <a:rPr sz="1050" b="0" i="0" u="none" dirty="0">
                <a:solidFill>
                  <a:srgbClr val="64748B"/>
                </a:solidFill>
                <a:latin typeface="Calibri" panose="020F0502020204030204" pitchFamily="34" charset="0"/>
              </a:rPr>
              <a:t>Automated instant notifications for severe weather alerts, storm warnings, or sudden temperature drops.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619625" y="2823120"/>
            <a:ext cx="1792798" cy="207749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350" b="1" i="0" u="none" dirty="0">
                <a:solidFill>
                  <a:srgbClr val="0F172A"/>
                </a:solidFill>
                <a:latin typeface="Calibri" panose="020F0502020204030204" pitchFamily="34" charset="0"/>
              </a:rPr>
              <a:t>Air Quality LED Feedback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19625" y="3099345"/>
            <a:ext cx="3048000" cy="4000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575"/>
              </a:lnSpc>
            </a:pPr>
            <a:r>
              <a:rPr sz="1050" b="0" i="0" u="none" dirty="0">
                <a:solidFill>
                  <a:srgbClr val="64748B"/>
                </a:solidFill>
                <a:latin typeface="Calibri" panose="020F0502020204030204" pitchFamily="34" charset="0"/>
              </a:rPr>
              <a:t>Physical LED indicator changing color based on BME680 indoor air quality index readings.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53425" y="2823120"/>
            <a:ext cx="1229504" cy="207749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350" b="1" i="0" u="none" dirty="0">
                <a:solidFill>
                  <a:srgbClr val="0F172A"/>
                </a:solidFill>
                <a:latin typeface="Calibri" panose="020F0502020204030204" pitchFamily="34" charset="0"/>
              </a:rPr>
              <a:t>Smart Home Hub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53425" y="3099345"/>
            <a:ext cx="3048000" cy="3945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575"/>
              </a:lnSpc>
            </a:pPr>
            <a:r>
              <a:rPr sz="1050" b="0" i="0" u="none" dirty="0">
                <a:solidFill>
                  <a:srgbClr val="64748B"/>
                </a:solidFill>
                <a:latin typeface="Calibri" panose="020F0502020204030204" pitchFamily="34" charset="0"/>
              </a:rPr>
              <a:t>Centralized control platform for additional home automation devices and remote web access.</a:t>
            </a:r>
          </a:p>
        </p:txBody>
      </p:sp>
      <p:pic>
        <p:nvPicPr>
          <p:cNvPr id="26" name="Picture 2">
            <a:extLst>
              <a:ext uri="{FF2B5EF4-FFF2-40B4-BE49-F238E27FC236}">
                <a16:creationId xmlns:a16="http://schemas.microsoft.com/office/drawing/2014/main" id="{39F0EA23-0F18-4C0A-BD8D-DE8CE0B1567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22542"/>
            <a:ext cx="2364382" cy="4059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6315075"/>
            <a:ext cx="12192000" cy="542925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6315075"/>
            <a:ext cx="12192000" cy="9525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609600" y="2051595"/>
            <a:ext cx="6336059" cy="3882479"/>
          </a:xfrm>
          <a:prstGeom prst="roundRect">
            <a:avLst>
              <a:gd name="adj" fmla="val 2943"/>
            </a:avLst>
          </a:prstGeom>
          <a:solidFill>
            <a:srgbClr val="F8FAFC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7174259" y="2051595"/>
            <a:ext cx="4408140" cy="3882479"/>
          </a:xfrm>
          <a:prstGeom prst="roundRect">
            <a:avLst>
              <a:gd name="adj" fmla="val 2943"/>
            </a:avLst>
          </a:prstGeom>
          <a:solidFill>
            <a:srgbClr val="F1F5F9"/>
          </a:solidFill>
          <a:ln w="9525">
            <a:solidFill>
              <a:srgbClr val="94A3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5726459" y="2332583"/>
            <a:ext cx="942975" cy="219075"/>
          </a:xfrm>
          <a:prstGeom prst="roundRect">
            <a:avLst>
              <a:gd name="adj" fmla="val 50000"/>
            </a:avLst>
          </a:prstGeom>
          <a:solidFill>
            <a:srgbClr val="EF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10525125" y="2332583"/>
            <a:ext cx="781050" cy="219075"/>
          </a:xfrm>
          <a:prstGeom prst="roundRect">
            <a:avLst>
              <a:gd name="adj" fmla="val 50000"/>
            </a:avLst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5825" y="2775495"/>
            <a:ext cx="133350" cy="152400"/>
          </a:xfrm>
          <a:prstGeom prst="rect">
            <a:avLst/>
          </a:prstGeom>
        </p:spPr>
      </p:pic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5825" y="3280320"/>
            <a:ext cx="133350" cy="152400"/>
          </a:xfrm>
          <a:prstGeom prst="rect">
            <a:avLst/>
          </a:prstGeom>
        </p:spPr>
      </p:pic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5825" y="3785145"/>
            <a:ext cx="133350" cy="152400"/>
          </a:xfrm>
          <a:prstGeom prst="rect">
            <a:avLst/>
          </a:prstGeom>
        </p:spPr>
      </p:pic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5825" y="4289970"/>
            <a:ext cx="133350" cy="152400"/>
          </a:xfrm>
          <a:prstGeom prst="rect">
            <a:avLst/>
          </a:prstGeom>
        </p:spPr>
      </p:pic>
      <p:pic>
        <p:nvPicPr>
          <p:cNvPr id="13" name="Picture 1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50484" y="2775495"/>
            <a:ext cx="152400" cy="152400"/>
          </a:xfrm>
          <a:prstGeom prst="rect">
            <a:avLst/>
          </a:prstGeom>
        </p:spPr>
      </p:pic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50484" y="3299370"/>
            <a:ext cx="152400" cy="152400"/>
          </a:xfrm>
          <a:prstGeom prst="rect">
            <a:avLst/>
          </a:prstGeom>
        </p:spPr>
      </p:pic>
      <p:pic>
        <p:nvPicPr>
          <p:cNvPr id="15" name="Picture 1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50484" y="3823245"/>
            <a:ext cx="152400" cy="1524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0429875" y="376237"/>
            <a:ext cx="900888" cy="161583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050" b="1" i="0" u="none" dirty="0">
                <a:solidFill>
                  <a:srgbClr val="0F172A"/>
                </a:solidFill>
                <a:latin typeface="Calibri" panose="020F0502020204030204" pitchFamily="34" charset="0"/>
              </a:rPr>
              <a:t>REQUIREMENTS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9600" y="1152525"/>
            <a:ext cx="11582400" cy="36567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2879"/>
              </a:lnSpc>
            </a:pPr>
            <a:r>
              <a:rPr sz="2400" b="1" i="0" u="none">
                <a:solidFill>
                  <a:srgbClr val="0F172A"/>
                </a:solidFill>
                <a:latin typeface="Montserrat"/>
              </a:rPr>
              <a:t>Technical Requirements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9600" y="1594395"/>
            <a:ext cx="4226222" cy="184666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200" b="0" i="0" u="none" dirty="0">
                <a:solidFill>
                  <a:srgbClr val="64748B"/>
                </a:solidFill>
                <a:latin typeface="Calibri" panose="020F0502020204030204" pitchFamily="34" charset="0"/>
              </a:rPr>
              <a:t>Breakdown of mandatory core features and optional enhancements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9600" y="6477000"/>
            <a:ext cx="1944443" cy="150041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975" b="0" i="0" u="none" dirty="0" err="1">
                <a:solidFill>
                  <a:srgbClr val="0F172A"/>
                </a:solidFill>
                <a:latin typeface="Calibri" panose="020F0502020204030204" pitchFamily="34" charset="0"/>
              </a:rPr>
              <a:t>WeatherLab</a:t>
            </a:r>
            <a:r>
              <a:rPr sz="975" b="0" i="0" u="none" dirty="0">
                <a:solidFill>
                  <a:srgbClr val="0F172A"/>
                </a:solidFill>
                <a:latin typeface="Calibri" panose="020F0502020204030204" pitchFamily="34" charset="0"/>
              </a:rPr>
              <a:t> | Technical Specifications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06150" y="6477000"/>
            <a:ext cx="400751" cy="150041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975" b="0" i="0" u="none" dirty="0">
                <a:solidFill>
                  <a:srgbClr val="0F172A"/>
                </a:solidFill>
                <a:latin typeface="Calibri" panose="020F0502020204030204" pitchFamily="34" charset="0"/>
              </a:rPr>
              <a:t>Slide 05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5825" y="2327820"/>
            <a:ext cx="1636025" cy="230832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500" b="1" i="0" u="none" dirty="0">
                <a:solidFill>
                  <a:srgbClr val="0F172A"/>
                </a:solidFill>
                <a:latin typeface="Calibri" panose="020F0502020204030204" pitchFamily="34" charset="0"/>
              </a:rPr>
              <a:t>MUST Requirements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821709" y="2370683"/>
            <a:ext cx="847725" cy="1428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1" i="0" u="none" dirty="0">
                <a:solidFill>
                  <a:srgbClr val="FFFFFF"/>
                </a:solidFill>
                <a:latin typeface="Calibri" panose="020F0502020204030204" pitchFamily="34" charset="0"/>
              </a:rPr>
              <a:t>MANDATORY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50484" y="2327820"/>
            <a:ext cx="1504836" cy="230832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500" b="1" i="0" u="none" dirty="0">
                <a:solidFill>
                  <a:srgbClr val="334155"/>
                </a:solidFill>
                <a:latin typeface="Calibri" panose="020F0502020204030204" pitchFamily="34" charset="0"/>
              </a:rPr>
              <a:t>CAN Requirements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20375" y="2370683"/>
            <a:ext cx="685800" cy="1428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1" i="0" u="none" dirty="0">
                <a:solidFill>
                  <a:srgbClr val="FFFFFF"/>
                </a:solidFill>
                <a:latin typeface="Calibri" panose="020F0502020204030204" pitchFamily="34" charset="0"/>
              </a:rPr>
              <a:t>OPTIONAL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33475" y="2746920"/>
            <a:ext cx="3495675" cy="17312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25" b="1" i="0" u="none" dirty="0">
                <a:solidFill>
                  <a:srgbClr val="0F172A"/>
                </a:solidFill>
                <a:latin typeface="Calibri" panose="020F0502020204030204" pitchFamily="34" charset="0"/>
              </a:rPr>
              <a:t>Sensor Hardware Hookup: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33475" y="3251745"/>
            <a:ext cx="3638550" cy="17312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25" b="1" i="0" u="none" dirty="0">
                <a:solidFill>
                  <a:srgbClr val="0F172A"/>
                </a:solidFill>
                <a:latin typeface="Calibri" panose="020F0502020204030204" pitchFamily="34" charset="0"/>
              </a:rPr>
              <a:t>Local Web-GUI &amp; Display: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33475" y="3756570"/>
            <a:ext cx="3514725" cy="17312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25" b="1" i="0" u="none" dirty="0">
                <a:solidFill>
                  <a:srgbClr val="0F172A"/>
                </a:solidFill>
                <a:latin typeface="Calibri" panose="020F0502020204030204" pitchFamily="34" charset="0"/>
              </a:rPr>
              <a:t>External API Integration: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475" y="4261395"/>
            <a:ext cx="3714750" cy="17312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25" b="1" i="0" u="none" dirty="0">
                <a:solidFill>
                  <a:srgbClr val="0F172A"/>
                </a:solidFill>
                <a:latin typeface="Calibri" panose="020F0502020204030204" pitchFamily="34" charset="0"/>
              </a:rPr>
              <a:t>VM Project Portal: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717184" y="2746920"/>
            <a:ext cx="3457575" cy="17312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25" b="1" i="0" u="none" dirty="0">
                <a:solidFill>
                  <a:srgbClr val="1E293B"/>
                </a:solidFill>
                <a:latin typeface="Calibri" panose="020F0502020204030204" pitchFamily="34" charset="0"/>
              </a:rPr>
              <a:t>Telegram Alerts: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717184" y="3270795"/>
            <a:ext cx="3333750" cy="17312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de-DE" sz="1125" b="1" i="0" u="none" dirty="0">
                <a:solidFill>
                  <a:srgbClr val="1E293B"/>
                </a:solidFill>
                <a:latin typeface="Calibri" panose="020F0502020204030204" pitchFamily="34" charset="0"/>
              </a:rPr>
              <a:t>Smartphone </a:t>
            </a:r>
            <a:r>
              <a:rPr lang="de-DE" sz="1125" b="1" i="0" u="none" dirty="0" err="1">
                <a:solidFill>
                  <a:srgbClr val="1E293B"/>
                </a:solidFill>
                <a:latin typeface="Calibri" panose="020F0502020204030204" pitchFamily="34" charset="0"/>
              </a:rPr>
              <a:t>Webview</a:t>
            </a:r>
            <a:r>
              <a:rPr lang="de-DE" sz="1125" b="1" i="0" u="none" dirty="0">
                <a:solidFill>
                  <a:srgbClr val="1E293B"/>
                </a:solidFill>
                <a:latin typeface="Calibri" panose="020F0502020204030204" pitchFamily="34" charset="0"/>
              </a:rPr>
              <a:t> </a:t>
            </a:r>
            <a:endParaRPr sz="1125" b="1" i="0" u="none" dirty="0">
              <a:solidFill>
                <a:srgbClr val="1E293B"/>
              </a:solidFill>
              <a:latin typeface="Calibri" panose="020F0502020204030204" pitchFamily="34" charset="0"/>
            </a:endParaRPr>
          </a:p>
        </p:txBody>
      </p:sp>
      <p:sp>
        <p:nvSpPr>
          <p:cNvPr id="32" name="TextBox 31"/>
          <p:cNvSpPr txBox="1"/>
          <p:nvPr/>
        </p:nvSpPr>
        <p:spPr>
          <a:xfrm>
            <a:off x="7717184" y="3794670"/>
            <a:ext cx="2638425" cy="17312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25" b="1" i="0" u="none" dirty="0">
                <a:solidFill>
                  <a:srgbClr val="1E293B"/>
                </a:solidFill>
                <a:latin typeface="Calibri" panose="020F0502020204030204" pitchFamily="34" charset="0"/>
              </a:rPr>
              <a:t>Visual LED Indicator: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33475" y="2956470"/>
            <a:ext cx="2968761" cy="161583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050" b="0" i="0" u="none" dirty="0">
                <a:solidFill>
                  <a:srgbClr val="475569"/>
                </a:solidFill>
                <a:latin typeface="Calibri" panose="020F0502020204030204" pitchFamily="34" charset="0"/>
              </a:rPr>
              <a:t>BME680 wired to Raspberry Pi for continuous reading.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33475" y="3461295"/>
            <a:ext cx="3100208" cy="161583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050" b="0" i="0" u="none" dirty="0">
                <a:solidFill>
                  <a:srgbClr val="475569"/>
                </a:solidFill>
                <a:latin typeface="Calibri" panose="020F0502020204030204" pitchFamily="34" charset="0"/>
              </a:rPr>
              <a:t>Live presentation on 7-inch touch screen via local server.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33475" y="3966120"/>
            <a:ext cx="2976777" cy="161583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050" b="0" i="0" u="none" dirty="0">
                <a:solidFill>
                  <a:srgbClr val="475569"/>
                </a:solidFill>
                <a:latin typeface="Calibri" panose="020F0502020204030204" pitchFamily="34" charset="0"/>
              </a:rPr>
              <a:t>Fetch 3-day weather forecast using </a:t>
            </a:r>
            <a:r>
              <a:rPr sz="1050" b="0" i="0" u="none" dirty="0" err="1">
                <a:solidFill>
                  <a:srgbClr val="475569"/>
                </a:solidFill>
                <a:latin typeface="Calibri" panose="020F0502020204030204" pitchFamily="34" charset="0"/>
              </a:rPr>
              <a:t>OpenWeather</a:t>
            </a:r>
            <a:r>
              <a:rPr sz="1050" b="0" i="0" u="none" dirty="0">
                <a:solidFill>
                  <a:srgbClr val="475569"/>
                </a:solidFill>
                <a:latin typeface="Calibri" panose="020F0502020204030204" pitchFamily="34" charset="0"/>
              </a:rPr>
              <a:t> API.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33475" y="4470945"/>
            <a:ext cx="3214021" cy="161583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050" b="0" i="0" u="none" dirty="0">
                <a:solidFill>
                  <a:srgbClr val="475569"/>
                </a:solidFill>
                <a:latin typeface="Calibri" panose="020F0502020204030204" pitchFamily="34" charset="0"/>
              </a:rPr>
              <a:t>Documentation, hardware introduction, and admin guides.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717184" y="2956470"/>
            <a:ext cx="2983189" cy="161583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050" b="0" i="0" u="none" dirty="0">
                <a:solidFill>
                  <a:srgbClr val="475569"/>
                </a:solidFill>
                <a:latin typeface="Calibri" panose="020F0502020204030204" pitchFamily="34" charset="0"/>
              </a:rPr>
              <a:t>Automated storm and extreme temperature warnings.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717184" y="3480345"/>
            <a:ext cx="2946319" cy="161583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lang="de-DE" sz="1050" dirty="0">
                <a:solidFill>
                  <a:srgbClr val="475569"/>
                </a:solidFill>
                <a:latin typeface="Calibri" panose="020F0502020204030204" pitchFamily="34" charset="0"/>
              </a:rPr>
              <a:t>A </a:t>
            </a:r>
            <a:r>
              <a:rPr lang="de-DE" sz="1050" dirty="0" err="1">
                <a:solidFill>
                  <a:srgbClr val="475569"/>
                </a:solidFill>
                <a:latin typeface="Calibri" panose="020F0502020204030204" pitchFamily="34" charset="0"/>
              </a:rPr>
              <a:t>Webview</a:t>
            </a:r>
            <a:r>
              <a:rPr lang="de-DE" sz="1050" dirty="0">
                <a:solidFill>
                  <a:srgbClr val="475569"/>
                </a:solidFill>
                <a:latin typeface="Calibri" panose="020F0502020204030204" pitchFamily="34" charset="0"/>
              </a:rPr>
              <a:t> </a:t>
            </a:r>
            <a:r>
              <a:rPr lang="de-DE" sz="1050" dirty="0" err="1">
                <a:solidFill>
                  <a:srgbClr val="475569"/>
                </a:solidFill>
                <a:latin typeface="Calibri" panose="020F0502020204030204" pitchFamily="34" charset="0"/>
              </a:rPr>
              <a:t>of</a:t>
            </a:r>
            <a:r>
              <a:rPr lang="de-DE" sz="1050" dirty="0">
                <a:solidFill>
                  <a:srgbClr val="475569"/>
                </a:solidFill>
                <a:latin typeface="Calibri" panose="020F0502020204030204" pitchFamily="34" charset="0"/>
              </a:rPr>
              <a:t> </a:t>
            </a:r>
            <a:r>
              <a:rPr lang="de-DE" sz="1050" dirty="0" err="1">
                <a:solidFill>
                  <a:srgbClr val="475569"/>
                </a:solidFill>
                <a:latin typeface="Calibri" panose="020F0502020204030204" pitchFamily="34" charset="0"/>
              </a:rPr>
              <a:t>the</a:t>
            </a:r>
            <a:r>
              <a:rPr lang="de-DE" sz="1050" dirty="0">
                <a:solidFill>
                  <a:srgbClr val="475569"/>
                </a:solidFill>
                <a:latin typeface="Calibri" panose="020F0502020204030204" pitchFamily="34" charset="0"/>
              </a:rPr>
              <a:t> Forecast Interface </a:t>
            </a:r>
            <a:r>
              <a:rPr lang="de-DE" sz="1050" dirty="0" err="1">
                <a:solidFill>
                  <a:srgbClr val="475569"/>
                </a:solidFill>
                <a:latin typeface="Calibri" panose="020F0502020204030204" pitchFamily="34" charset="0"/>
              </a:rPr>
              <a:t>for</a:t>
            </a:r>
            <a:r>
              <a:rPr lang="de-DE" sz="1050" dirty="0">
                <a:solidFill>
                  <a:srgbClr val="475569"/>
                </a:solidFill>
                <a:latin typeface="Calibri" panose="020F0502020204030204" pitchFamily="34" charset="0"/>
              </a:rPr>
              <a:t> Smartphones</a:t>
            </a:r>
            <a:endParaRPr sz="1050" b="0" i="0" u="none" dirty="0">
              <a:solidFill>
                <a:srgbClr val="475569"/>
              </a:solidFill>
              <a:latin typeface="Calibri" panose="020F0502020204030204" pitchFamily="34" charset="0"/>
            </a:endParaRPr>
          </a:p>
        </p:txBody>
      </p:sp>
      <p:sp>
        <p:nvSpPr>
          <p:cNvPr id="39" name="TextBox 38"/>
          <p:cNvSpPr txBox="1"/>
          <p:nvPr/>
        </p:nvSpPr>
        <p:spPr>
          <a:xfrm>
            <a:off x="7717184" y="4004220"/>
            <a:ext cx="2188100" cy="161583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050" b="0" i="0" u="none" dirty="0">
                <a:solidFill>
                  <a:srgbClr val="475569"/>
                </a:solidFill>
                <a:latin typeface="Calibri" panose="020F0502020204030204" pitchFamily="34" charset="0"/>
              </a:rPr>
              <a:t>Physical air quality light feedback signal.</a:t>
            </a:r>
          </a:p>
        </p:txBody>
      </p:sp>
      <p:pic>
        <p:nvPicPr>
          <p:cNvPr id="40" name="Picture 2">
            <a:extLst>
              <a:ext uri="{FF2B5EF4-FFF2-40B4-BE49-F238E27FC236}">
                <a16:creationId xmlns:a16="http://schemas.microsoft.com/office/drawing/2014/main" id="{6F3B7032-DD6E-48E9-8576-952FEDC2D3D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22542"/>
            <a:ext cx="2364382" cy="4059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6315075"/>
            <a:ext cx="12192000" cy="542925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6315075"/>
            <a:ext cx="12192000" cy="9525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609600" y="2051595"/>
            <a:ext cx="6336059" cy="3882479"/>
          </a:xfrm>
          <a:prstGeom prst="roundRect">
            <a:avLst>
              <a:gd name="adj" fmla="val 2943"/>
            </a:avLst>
          </a:prstGeom>
          <a:solidFill>
            <a:srgbClr val="F8FAFC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7174259" y="2051595"/>
            <a:ext cx="4408140" cy="3882479"/>
          </a:xfrm>
          <a:prstGeom prst="roundRect">
            <a:avLst>
              <a:gd name="adj" fmla="val 2943"/>
            </a:avLst>
          </a:prstGeom>
          <a:solidFill>
            <a:srgbClr val="F1F5F9"/>
          </a:solidFill>
          <a:ln w="9525">
            <a:solidFill>
              <a:srgbClr val="94A3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5726459" y="2332583"/>
            <a:ext cx="942975" cy="219075"/>
          </a:xfrm>
          <a:prstGeom prst="roundRect">
            <a:avLst>
              <a:gd name="adj" fmla="val 50000"/>
            </a:avLst>
          </a:prstGeom>
          <a:solidFill>
            <a:srgbClr val="EF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10525125" y="2332583"/>
            <a:ext cx="781050" cy="219075"/>
          </a:xfrm>
          <a:prstGeom prst="roundRect">
            <a:avLst>
              <a:gd name="adj" fmla="val 50000"/>
            </a:avLst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5825" y="2775495"/>
            <a:ext cx="133350" cy="152400"/>
          </a:xfrm>
          <a:prstGeom prst="rect">
            <a:avLst/>
          </a:prstGeom>
        </p:spPr>
      </p:pic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5825" y="3280320"/>
            <a:ext cx="133350" cy="152400"/>
          </a:xfrm>
          <a:prstGeom prst="rect">
            <a:avLst/>
          </a:prstGeom>
        </p:spPr>
      </p:pic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5825" y="3785145"/>
            <a:ext cx="133350" cy="152400"/>
          </a:xfrm>
          <a:prstGeom prst="rect">
            <a:avLst/>
          </a:prstGeom>
        </p:spPr>
      </p:pic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5825" y="4289970"/>
            <a:ext cx="133350" cy="152400"/>
          </a:xfrm>
          <a:prstGeom prst="rect">
            <a:avLst/>
          </a:prstGeom>
        </p:spPr>
      </p:pic>
      <p:pic>
        <p:nvPicPr>
          <p:cNvPr id="13" name="Picture 1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50484" y="2775495"/>
            <a:ext cx="152400" cy="152400"/>
          </a:xfrm>
          <a:prstGeom prst="rect">
            <a:avLst/>
          </a:prstGeom>
        </p:spPr>
      </p:pic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50484" y="3299370"/>
            <a:ext cx="152400" cy="152400"/>
          </a:xfrm>
          <a:prstGeom prst="rect">
            <a:avLst/>
          </a:prstGeom>
        </p:spPr>
      </p:pic>
      <p:pic>
        <p:nvPicPr>
          <p:cNvPr id="15" name="Picture 1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50484" y="3823245"/>
            <a:ext cx="152400" cy="1524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0429875" y="376237"/>
            <a:ext cx="900888" cy="161583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050" b="1" i="0" u="none" dirty="0">
                <a:solidFill>
                  <a:srgbClr val="0F172A"/>
                </a:solidFill>
                <a:latin typeface="Calibri" panose="020F0502020204030204" pitchFamily="34" charset="0"/>
              </a:rPr>
              <a:t>REQUIREMENTS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9600" y="1152525"/>
            <a:ext cx="726161" cy="354969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2879"/>
              </a:lnSpc>
            </a:pPr>
            <a:r>
              <a:rPr lang="de-DE" sz="2400" b="1" i="0" u="none" dirty="0" err="1">
                <a:solidFill>
                  <a:srgbClr val="0F172A"/>
                </a:solidFill>
                <a:latin typeface="Montserrat"/>
              </a:rPr>
              <a:t>Cost</a:t>
            </a:r>
            <a:endParaRPr sz="2400" b="1" i="0" u="none" dirty="0">
              <a:solidFill>
                <a:srgbClr val="0F172A"/>
              </a:solidFill>
              <a:latin typeface="Montserrat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609600" y="1594395"/>
            <a:ext cx="4226222" cy="184666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200" b="0" i="0" u="none" dirty="0">
                <a:solidFill>
                  <a:srgbClr val="64748B"/>
                </a:solidFill>
                <a:latin typeface="Calibri" panose="020F0502020204030204" pitchFamily="34" charset="0"/>
              </a:rPr>
              <a:t>Breakdown of mandatory core features and optional enhancements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9600" y="6477000"/>
            <a:ext cx="1944443" cy="150041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975" b="0" i="0" u="none" dirty="0" err="1">
                <a:solidFill>
                  <a:srgbClr val="0F172A"/>
                </a:solidFill>
                <a:latin typeface="Calibri" panose="020F0502020204030204" pitchFamily="34" charset="0"/>
              </a:rPr>
              <a:t>WeatherLab</a:t>
            </a:r>
            <a:r>
              <a:rPr sz="975" b="0" i="0" u="none" dirty="0">
                <a:solidFill>
                  <a:srgbClr val="0F172A"/>
                </a:solidFill>
                <a:latin typeface="Calibri" panose="020F0502020204030204" pitchFamily="34" charset="0"/>
              </a:rPr>
              <a:t> | Technical Specifications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06150" y="6477000"/>
            <a:ext cx="400751" cy="150041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975" b="0" i="0" u="none" dirty="0">
                <a:solidFill>
                  <a:srgbClr val="0F172A"/>
                </a:solidFill>
                <a:latin typeface="Calibri" panose="020F0502020204030204" pitchFamily="34" charset="0"/>
              </a:rPr>
              <a:t>Slide 05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5825" y="2327820"/>
            <a:ext cx="1636025" cy="230832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500" b="1" i="0" u="none" dirty="0">
                <a:solidFill>
                  <a:srgbClr val="0F172A"/>
                </a:solidFill>
                <a:latin typeface="Calibri" panose="020F0502020204030204" pitchFamily="34" charset="0"/>
              </a:rPr>
              <a:t>MUST Requirements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821709" y="2370683"/>
            <a:ext cx="847725" cy="1428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1" i="0" u="none" dirty="0">
                <a:solidFill>
                  <a:srgbClr val="FFFFFF"/>
                </a:solidFill>
                <a:latin typeface="Calibri" panose="020F0502020204030204" pitchFamily="34" charset="0"/>
              </a:rPr>
              <a:t>MANDATORY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50484" y="2327820"/>
            <a:ext cx="1504836" cy="230832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500" b="1" i="0" u="none" dirty="0">
                <a:solidFill>
                  <a:srgbClr val="334155"/>
                </a:solidFill>
                <a:latin typeface="Calibri" panose="020F0502020204030204" pitchFamily="34" charset="0"/>
              </a:rPr>
              <a:t>CAN Requirements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20375" y="2370683"/>
            <a:ext cx="685800" cy="1428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1" i="0" u="none" dirty="0">
                <a:solidFill>
                  <a:srgbClr val="FFFFFF"/>
                </a:solidFill>
                <a:latin typeface="Calibri" panose="020F0502020204030204" pitchFamily="34" charset="0"/>
              </a:rPr>
              <a:t>OPTIONAL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33475" y="2746920"/>
            <a:ext cx="3495675" cy="17312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25" b="1" i="0" u="none" dirty="0">
                <a:solidFill>
                  <a:srgbClr val="0F172A"/>
                </a:solidFill>
                <a:latin typeface="Calibri" panose="020F0502020204030204" pitchFamily="34" charset="0"/>
              </a:rPr>
              <a:t>Sensor Hardware Hookup: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33475" y="3251745"/>
            <a:ext cx="3638550" cy="17312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25" b="1" i="0" u="none" dirty="0">
                <a:solidFill>
                  <a:srgbClr val="0F172A"/>
                </a:solidFill>
                <a:latin typeface="Calibri" panose="020F0502020204030204" pitchFamily="34" charset="0"/>
              </a:rPr>
              <a:t>Local Web-GUI &amp; Display: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33475" y="3756570"/>
            <a:ext cx="3514725" cy="17312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25" b="1" i="0" u="none" dirty="0">
                <a:solidFill>
                  <a:srgbClr val="0F172A"/>
                </a:solidFill>
                <a:latin typeface="Calibri" panose="020F0502020204030204" pitchFamily="34" charset="0"/>
              </a:rPr>
              <a:t>External API Integration: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475" y="4261395"/>
            <a:ext cx="3714750" cy="17312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25" b="1" i="0" u="none" dirty="0">
                <a:solidFill>
                  <a:srgbClr val="0F172A"/>
                </a:solidFill>
                <a:latin typeface="Calibri" panose="020F0502020204030204" pitchFamily="34" charset="0"/>
              </a:rPr>
              <a:t>VM Project Portal: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717184" y="2746920"/>
            <a:ext cx="3457575" cy="17312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25" b="1" i="0" u="none" dirty="0">
                <a:solidFill>
                  <a:srgbClr val="1E293B"/>
                </a:solidFill>
                <a:latin typeface="Calibri" panose="020F0502020204030204" pitchFamily="34" charset="0"/>
              </a:rPr>
              <a:t>Telegram Alerts: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717184" y="3270795"/>
            <a:ext cx="3333750" cy="17312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de-DE" sz="1125" b="1" i="0" u="none" dirty="0">
                <a:solidFill>
                  <a:srgbClr val="1E293B"/>
                </a:solidFill>
                <a:latin typeface="Calibri" panose="020F0502020204030204" pitchFamily="34" charset="0"/>
              </a:rPr>
              <a:t>Smartphone </a:t>
            </a:r>
            <a:r>
              <a:rPr lang="de-DE" sz="1125" b="1" i="0" u="none" dirty="0" err="1">
                <a:solidFill>
                  <a:srgbClr val="1E293B"/>
                </a:solidFill>
                <a:latin typeface="Calibri" panose="020F0502020204030204" pitchFamily="34" charset="0"/>
              </a:rPr>
              <a:t>Webview</a:t>
            </a:r>
            <a:r>
              <a:rPr lang="de-DE" sz="1125" b="1" i="0" u="none" dirty="0">
                <a:solidFill>
                  <a:srgbClr val="1E293B"/>
                </a:solidFill>
                <a:latin typeface="Calibri" panose="020F0502020204030204" pitchFamily="34" charset="0"/>
              </a:rPr>
              <a:t> </a:t>
            </a:r>
            <a:endParaRPr sz="1125" b="1" i="0" u="none" dirty="0">
              <a:solidFill>
                <a:srgbClr val="1E293B"/>
              </a:solidFill>
              <a:latin typeface="Calibri" panose="020F0502020204030204" pitchFamily="34" charset="0"/>
            </a:endParaRPr>
          </a:p>
        </p:txBody>
      </p:sp>
      <p:sp>
        <p:nvSpPr>
          <p:cNvPr id="32" name="TextBox 31"/>
          <p:cNvSpPr txBox="1"/>
          <p:nvPr/>
        </p:nvSpPr>
        <p:spPr>
          <a:xfrm>
            <a:off x="7717184" y="3794670"/>
            <a:ext cx="2638425" cy="17312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25" b="1" i="0" u="none" dirty="0">
                <a:solidFill>
                  <a:srgbClr val="1E293B"/>
                </a:solidFill>
                <a:latin typeface="Calibri" panose="020F0502020204030204" pitchFamily="34" charset="0"/>
              </a:rPr>
              <a:t>Visual LED Indicator: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33475" y="2956470"/>
            <a:ext cx="2968761" cy="161583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050" b="0" i="0" u="none" dirty="0">
                <a:solidFill>
                  <a:srgbClr val="475569"/>
                </a:solidFill>
                <a:latin typeface="Calibri" panose="020F0502020204030204" pitchFamily="34" charset="0"/>
              </a:rPr>
              <a:t>BME680 wired to Raspberry Pi for continuous reading.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33475" y="3461295"/>
            <a:ext cx="3100208" cy="161583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050" b="0" i="0" u="none" dirty="0">
                <a:solidFill>
                  <a:srgbClr val="475569"/>
                </a:solidFill>
                <a:latin typeface="Calibri" panose="020F0502020204030204" pitchFamily="34" charset="0"/>
              </a:rPr>
              <a:t>Live presentation on 7-inch touch screen via local server.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33475" y="3966120"/>
            <a:ext cx="2976777" cy="161583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050" b="0" i="0" u="none" dirty="0">
                <a:solidFill>
                  <a:srgbClr val="475569"/>
                </a:solidFill>
                <a:latin typeface="Calibri" panose="020F0502020204030204" pitchFamily="34" charset="0"/>
              </a:rPr>
              <a:t>Fetch 3-day weather forecast using </a:t>
            </a:r>
            <a:r>
              <a:rPr sz="1050" b="0" i="0" u="none" dirty="0" err="1">
                <a:solidFill>
                  <a:srgbClr val="475569"/>
                </a:solidFill>
                <a:latin typeface="Calibri" panose="020F0502020204030204" pitchFamily="34" charset="0"/>
              </a:rPr>
              <a:t>OpenWeather</a:t>
            </a:r>
            <a:r>
              <a:rPr sz="1050" b="0" i="0" u="none" dirty="0">
                <a:solidFill>
                  <a:srgbClr val="475569"/>
                </a:solidFill>
                <a:latin typeface="Calibri" panose="020F0502020204030204" pitchFamily="34" charset="0"/>
              </a:rPr>
              <a:t> API.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33475" y="4470945"/>
            <a:ext cx="3214021" cy="161583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050" b="0" i="0" u="none" dirty="0">
                <a:solidFill>
                  <a:srgbClr val="475569"/>
                </a:solidFill>
                <a:latin typeface="Calibri" panose="020F0502020204030204" pitchFamily="34" charset="0"/>
              </a:rPr>
              <a:t>Documentation, hardware introduction, and admin guides.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717184" y="2956470"/>
            <a:ext cx="2983189" cy="161583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050" b="0" i="0" u="none" dirty="0">
                <a:solidFill>
                  <a:srgbClr val="475569"/>
                </a:solidFill>
                <a:latin typeface="Calibri" panose="020F0502020204030204" pitchFamily="34" charset="0"/>
              </a:rPr>
              <a:t>Automated storm and extreme temperature warnings.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717184" y="3480345"/>
            <a:ext cx="2946319" cy="161583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lang="de-DE" sz="1050" dirty="0">
                <a:solidFill>
                  <a:srgbClr val="475569"/>
                </a:solidFill>
                <a:latin typeface="Calibri" panose="020F0502020204030204" pitchFamily="34" charset="0"/>
              </a:rPr>
              <a:t>A </a:t>
            </a:r>
            <a:r>
              <a:rPr lang="de-DE" sz="1050" dirty="0" err="1">
                <a:solidFill>
                  <a:srgbClr val="475569"/>
                </a:solidFill>
                <a:latin typeface="Calibri" panose="020F0502020204030204" pitchFamily="34" charset="0"/>
              </a:rPr>
              <a:t>Webview</a:t>
            </a:r>
            <a:r>
              <a:rPr lang="de-DE" sz="1050" dirty="0">
                <a:solidFill>
                  <a:srgbClr val="475569"/>
                </a:solidFill>
                <a:latin typeface="Calibri" panose="020F0502020204030204" pitchFamily="34" charset="0"/>
              </a:rPr>
              <a:t> </a:t>
            </a:r>
            <a:r>
              <a:rPr lang="de-DE" sz="1050" dirty="0" err="1">
                <a:solidFill>
                  <a:srgbClr val="475569"/>
                </a:solidFill>
                <a:latin typeface="Calibri" panose="020F0502020204030204" pitchFamily="34" charset="0"/>
              </a:rPr>
              <a:t>of</a:t>
            </a:r>
            <a:r>
              <a:rPr lang="de-DE" sz="1050" dirty="0">
                <a:solidFill>
                  <a:srgbClr val="475569"/>
                </a:solidFill>
                <a:latin typeface="Calibri" panose="020F0502020204030204" pitchFamily="34" charset="0"/>
              </a:rPr>
              <a:t> </a:t>
            </a:r>
            <a:r>
              <a:rPr lang="de-DE" sz="1050" dirty="0" err="1">
                <a:solidFill>
                  <a:srgbClr val="475569"/>
                </a:solidFill>
                <a:latin typeface="Calibri" panose="020F0502020204030204" pitchFamily="34" charset="0"/>
              </a:rPr>
              <a:t>the</a:t>
            </a:r>
            <a:r>
              <a:rPr lang="de-DE" sz="1050" dirty="0">
                <a:solidFill>
                  <a:srgbClr val="475569"/>
                </a:solidFill>
                <a:latin typeface="Calibri" panose="020F0502020204030204" pitchFamily="34" charset="0"/>
              </a:rPr>
              <a:t> Forecast Interface </a:t>
            </a:r>
            <a:r>
              <a:rPr lang="de-DE" sz="1050" dirty="0" err="1">
                <a:solidFill>
                  <a:srgbClr val="475569"/>
                </a:solidFill>
                <a:latin typeface="Calibri" panose="020F0502020204030204" pitchFamily="34" charset="0"/>
              </a:rPr>
              <a:t>for</a:t>
            </a:r>
            <a:r>
              <a:rPr lang="de-DE" sz="1050" dirty="0">
                <a:solidFill>
                  <a:srgbClr val="475569"/>
                </a:solidFill>
                <a:latin typeface="Calibri" panose="020F0502020204030204" pitchFamily="34" charset="0"/>
              </a:rPr>
              <a:t> Smartphones</a:t>
            </a:r>
            <a:endParaRPr sz="1050" b="0" i="0" u="none" dirty="0">
              <a:solidFill>
                <a:srgbClr val="475569"/>
              </a:solidFill>
              <a:latin typeface="Calibri" panose="020F0502020204030204" pitchFamily="34" charset="0"/>
            </a:endParaRPr>
          </a:p>
        </p:txBody>
      </p:sp>
      <p:sp>
        <p:nvSpPr>
          <p:cNvPr id="39" name="TextBox 38"/>
          <p:cNvSpPr txBox="1"/>
          <p:nvPr/>
        </p:nvSpPr>
        <p:spPr>
          <a:xfrm>
            <a:off x="7717184" y="4004220"/>
            <a:ext cx="2188100" cy="161583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050" b="0" i="0" u="none" dirty="0">
                <a:solidFill>
                  <a:srgbClr val="475569"/>
                </a:solidFill>
                <a:latin typeface="Calibri" panose="020F0502020204030204" pitchFamily="34" charset="0"/>
              </a:rPr>
              <a:t>Physical air quality light feedback signal.</a:t>
            </a:r>
          </a:p>
        </p:txBody>
      </p:sp>
      <p:pic>
        <p:nvPicPr>
          <p:cNvPr id="40" name="Picture 2">
            <a:extLst>
              <a:ext uri="{FF2B5EF4-FFF2-40B4-BE49-F238E27FC236}">
                <a16:creationId xmlns:a16="http://schemas.microsoft.com/office/drawing/2014/main" id="{6F3B7032-DD6E-48E9-8576-952FEDC2D3D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22542"/>
            <a:ext cx="2364382" cy="4059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16481156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6315075"/>
            <a:ext cx="12192000" cy="542925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6315075"/>
            <a:ext cx="12192000" cy="9525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609600" y="2322016"/>
            <a:ext cx="5372100" cy="1285875"/>
          </a:xfrm>
          <a:prstGeom prst="roundRect">
            <a:avLst>
              <a:gd name="adj" fmla="val 5925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6210300" y="2322016"/>
            <a:ext cx="5372100" cy="1285875"/>
          </a:xfrm>
          <a:prstGeom prst="roundRect">
            <a:avLst>
              <a:gd name="adj" fmla="val 5925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609600" y="4377630"/>
            <a:ext cx="5372100" cy="1285875"/>
          </a:xfrm>
          <a:prstGeom prst="roundRect">
            <a:avLst>
              <a:gd name="adj" fmla="val 5925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6210300" y="4377630"/>
            <a:ext cx="5372100" cy="1285875"/>
          </a:xfrm>
          <a:prstGeom prst="roundRect">
            <a:avLst>
              <a:gd name="adj" fmla="val 5925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609600" y="2322016"/>
            <a:ext cx="47625" cy="1285875"/>
          </a:xfrm>
          <a:prstGeom prst="rect">
            <a:avLst/>
          </a:prstGeom>
          <a:solidFill>
            <a:srgbClr val="EF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6210300" y="2322016"/>
            <a:ext cx="47625" cy="1285875"/>
          </a:xfrm>
          <a:prstGeom prst="rect">
            <a:avLst/>
          </a:prstGeom>
          <a:solidFill>
            <a:srgbClr val="EF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609600" y="4377630"/>
            <a:ext cx="47625" cy="1285875"/>
          </a:xfrm>
          <a:prstGeom prst="rect">
            <a:avLst/>
          </a:prstGeom>
          <a:solidFill>
            <a:srgbClr val="EF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6210300" y="4377630"/>
            <a:ext cx="47625" cy="1285875"/>
          </a:xfrm>
          <a:prstGeom prst="rect">
            <a:avLst/>
          </a:prstGeom>
          <a:solidFill>
            <a:srgbClr val="EF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3" name="Picture 1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5825" y="2574428"/>
            <a:ext cx="238125" cy="304800"/>
          </a:xfrm>
          <a:prstGeom prst="rect">
            <a:avLst/>
          </a:prstGeom>
        </p:spPr>
      </p:pic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86525" y="2574428"/>
            <a:ext cx="304800" cy="304800"/>
          </a:xfrm>
          <a:prstGeom prst="rect">
            <a:avLst/>
          </a:prstGeom>
        </p:spPr>
      </p:pic>
      <p:pic>
        <p:nvPicPr>
          <p:cNvPr id="15" name="Picture 14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5825" y="4630042"/>
            <a:ext cx="342900" cy="304800"/>
          </a:xfrm>
          <a:prstGeom prst="rect">
            <a:avLst/>
          </a:prstGeom>
        </p:spPr>
      </p:pic>
      <p:pic>
        <p:nvPicPr>
          <p:cNvPr id="16" name="Picture 15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86525" y="4630042"/>
            <a:ext cx="228600" cy="30480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10706100" y="376237"/>
            <a:ext cx="692497" cy="161583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050" b="1" i="0" u="none" dirty="0">
                <a:solidFill>
                  <a:srgbClr val="0F172A"/>
                </a:solidFill>
                <a:latin typeface="Calibri" panose="020F0502020204030204" pitchFamily="34" charset="0"/>
              </a:rPr>
              <a:t>EQUIPMENT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9600" y="1152525"/>
            <a:ext cx="11582400" cy="36567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2879"/>
              </a:lnSpc>
            </a:pPr>
            <a:r>
              <a:rPr sz="2400" b="1" i="0" u="none">
                <a:solidFill>
                  <a:srgbClr val="0F172A"/>
                </a:solidFill>
                <a:latin typeface="Montserrat"/>
              </a:rPr>
              <a:t>Hardware &amp; Equipment Specs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9600" y="1594395"/>
            <a:ext cx="3074496" cy="184666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200" b="0" i="0" u="none" dirty="0">
                <a:solidFill>
                  <a:srgbClr val="64748B"/>
                </a:solidFill>
                <a:latin typeface="Calibri" panose="020F0502020204030204" pitchFamily="34" charset="0"/>
              </a:rPr>
              <a:t>Physical components and hardware configuration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09600" y="6477000"/>
            <a:ext cx="1918795" cy="150041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975" b="0" i="0" u="none" dirty="0" err="1">
                <a:solidFill>
                  <a:srgbClr val="0F172A"/>
                </a:solidFill>
                <a:latin typeface="Calibri" panose="020F0502020204030204" pitchFamily="34" charset="0"/>
              </a:rPr>
              <a:t>WeatherLab</a:t>
            </a:r>
            <a:r>
              <a:rPr sz="975" b="0" i="0" u="none" dirty="0">
                <a:solidFill>
                  <a:srgbClr val="0F172A"/>
                </a:solidFill>
                <a:latin typeface="Calibri" panose="020F0502020204030204" pitchFamily="34" charset="0"/>
              </a:rPr>
              <a:t> | Hardware Components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06150" y="6477000"/>
            <a:ext cx="400751" cy="150041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975" b="0" i="0" u="none" dirty="0">
                <a:solidFill>
                  <a:srgbClr val="0F172A"/>
                </a:solidFill>
                <a:latin typeface="Calibri" panose="020F0502020204030204" pitchFamily="34" charset="0"/>
              </a:rPr>
              <a:t>Slide 09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85825" y="3017341"/>
            <a:ext cx="4962525" cy="17312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25" b="0" i="0" u="none" dirty="0">
                <a:solidFill>
                  <a:srgbClr val="475569"/>
                </a:solidFill>
                <a:latin typeface="Calibri" panose="020F0502020204030204" pitchFamily="34" charset="0"/>
              </a:rPr>
              <a:t>Main computing controller running local web server and database logging scripts.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86525" y="3017341"/>
            <a:ext cx="4962525" cy="17312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25" b="0" i="0" u="none" dirty="0">
                <a:solidFill>
                  <a:srgbClr val="475569"/>
                </a:solidFill>
                <a:latin typeface="Calibri" panose="020F0502020204030204" pitchFamily="34" charset="0"/>
              </a:rPr>
              <a:t>Measures temperature, humidity, atmospheric pressure, and indoor air quality.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5825" y="5072955"/>
            <a:ext cx="4962525" cy="17312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25" b="0" i="0" u="none" dirty="0">
                <a:solidFill>
                  <a:srgbClr val="475569"/>
                </a:solidFill>
                <a:latin typeface="Calibri" panose="020F0502020204030204" pitchFamily="34" charset="0"/>
              </a:rPr>
              <a:t>Direct touch display mounting on Raspberry Pi for real-time station monitoring.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86525" y="5072955"/>
            <a:ext cx="4962525" cy="17312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25" b="0" i="0" u="none" dirty="0">
                <a:solidFill>
                  <a:srgbClr val="475569"/>
                </a:solidFill>
                <a:latin typeface="Calibri" panose="020F0502020204030204" pitchFamily="34" charset="0"/>
              </a:rPr>
              <a:t>Hosts Linux OS, web server files, logs, and historical weather data archives.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76350" y="2550616"/>
            <a:ext cx="1249509" cy="207749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350" b="1" i="0" u="none" dirty="0">
                <a:solidFill>
                  <a:srgbClr val="0F172A"/>
                </a:solidFill>
                <a:latin typeface="Calibri" panose="020F0502020204030204" pitchFamily="34" charset="0"/>
              </a:rPr>
              <a:t>Raspberry Pi Unit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76350" y="2750641"/>
            <a:ext cx="1396216" cy="150041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975" b="1" i="0" u="none" dirty="0">
                <a:solidFill>
                  <a:srgbClr val="EF4444"/>
                </a:solidFill>
                <a:latin typeface="Calibri" panose="020F0502020204030204" pitchFamily="34" charset="0"/>
              </a:rPr>
              <a:t>Provided by David </a:t>
            </a:r>
            <a:r>
              <a:rPr sz="975" b="1" i="0" u="none" dirty="0" err="1">
                <a:solidFill>
                  <a:srgbClr val="EF4444"/>
                </a:solidFill>
                <a:latin typeface="Calibri" panose="020F0502020204030204" pitchFamily="34" charset="0"/>
              </a:rPr>
              <a:t>Sageder</a:t>
            </a:r>
            <a:endParaRPr sz="975" b="1" i="0" u="none" dirty="0">
              <a:solidFill>
                <a:srgbClr val="EF4444"/>
              </a:solidFill>
              <a:latin typeface="Calibri" panose="020F0502020204030204" pitchFamily="34" charset="0"/>
            </a:endParaRPr>
          </a:p>
        </p:txBody>
      </p:sp>
      <p:sp>
        <p:nvSpPr>
          <p:cNvPr id="29" name="TextBox 28"/>
          <p:cNvSpPr txBox="1"/>
          <p:nvPr/>
        </p:nvSpPr>
        <p:spPr>
          <a:xfrm>
            <a:off x="6943725" y="2550616"/>
            <a:ext cx="1158972" cy="207749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350" b="1" i="0" u="none" dirty="0">
                <a:solidFill>
                  <a:srgbClr val="0F172A"/>
                </a:solidFill>
                <a:latin typeface="Calibri" panose="020F0502020204030204" pitchFamily="34" charset="0"/>
              </a:rPr>
              <a:t>BME 680 Sensor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943725" y="2750641"/>
            <a:ext cx="1476366" cy="150041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975" b="1" i="0" u="none" dirty="0">
                <a:solidFill>
                  <a:srgbClr val="EF4444"/>
                </a:solidFill>
                <a:latin typeface="Calibri" panose="020F0502020204030204" pitchFamily="34" charset="0"/>
              </a:rPr>
              <a:t>4-in-1 Environmental Sensor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81125" y="4606230"/>
            <a:ext cx="1464696" cy="207749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350" b="1" i="0" u="none" dirty="0">
                <a:solidFill>
                  <a:srgbClr val="0F172A"/>
                </a:solidFill>
                <a:latin typeface="Calibri" panose="020F0502020204030204" pitchFamily="34" charset="0"/>
              </a:rPr>
              <a:t>7-Inch Touch Display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381125" y="4806255"/>
            <a:ext cx="1061188" cy="150041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975" b="1" i="0" u="none" dirty="0">
                <a:solidFill>
                  <a:srgbClr val="EF4444"/>
                </a:solidFill>
                <a:latin typeface="Calibri" panose="020F0502020204030204" pitchFamily="34" charset="0"/>
              </a:rPr>
              <a:t>Interactive Interface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867525" y="4606230"/>
            <a:ext cx="1319977" cy="207749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350" b="1" i="0" u="none" dirty="0">
                <a:solidFill>
                  <a:srgbClr val="0F172A"/>
                </a:solidFill>
                <a:latin typeface="Calibri" panose="020F0502020204030204" pitchFamily="34" charset="0"/>
              </a:rPr>
              <a:t>256 GB SD Storage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67525" y="4806255"/>
            <a:ext cx="1181414" cy="150041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975" b="1" i="0" u="none" dirty="0">
                <a:solidFill>
                  <a:srgbClr val="EF4444"/>
                </a:solidFill>
                <a:latin typeface="Calibri" panose="020F0502020204030204" pitchFamily="34" charset="0"/>
              </a:rPr>
              <a:t>High Capacity Memory</a:t>
            </a:r>
          </a:p>
        </p:txBody>
      </p:sp>
      <p:pic>
        <p:nvPicPr>
          <p:cNvPr id="35" name="Picture 2">
            <a:extLst>
              <a:ext uri="{FF2B5EF4-FFF2-40B4-BE49-F238E27FC236}">
                <a16:creationId xmlns:a16="http://schemas.microsoft.com/office/drawing/2014/main" id="{1F4E107F-E3DC-47F1-BC5C-5CE0A3296D5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22542"/>
            <a:ext cx="2364382" cy="4059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6315075"/>
            <a:ext cx="12192000" cy="542925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6315075"/>
            <a:ext cx="12192000" cy="9525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609600" y="2051595"/>
            <a:ext cx="2600325" cy="3882479"/>
          </a:xfrm>
          <a:prstGeom prst="roundRect">
            <a:avLst>
              <a:gd name="adj" fmla="val 4395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3400425" y="2051595"/>
            <a:ext cx="2600325" cy="3882479"/>
          </a:xfrm>
          <a:prstGeom prst="roundRect">
            <a:avLst>
              <a:gd name="adj" fmla="val 4395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6191250" y="2051595"/>
            <a:ext cx="2600325" cy="3882479"/>
          </a:xfrm>
          <a:prstGeom prst="roundRect">
            <a:avLst>
              <a:gd name="adj" fmla="val 4395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8982075" y="2051595"/>
            <a:ext cx="2600325" cy="3882479"/>
          </a:xfrm>
          <a:prstGeom prst="roundRect">
            <a:avLst>
              <a:gd name="adj" fmla="val 4395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7725" y="2289720"/>
            <a:ext cx="2124075" cy="304800"/>
          </a:xfrm>
          <a:prstGeom prst="rect">
            <a:avLst/>
          </a:prstGeom>
        </p:spPr>
      </p:pic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38550" y="2289720"/>
            <a:ext cx="2124075" cy="304800"/>
          </a:xfrm>
          <a:prstGeom prst="rect">
            <a:avLst/>
          </a:prstGeom>
        </p:spPr>
      </p:pic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29375" y="2289720"/>
            <a:ext cx="2124075" cy="304800"/>
          </a:xfrm>
          <a:prstGeom prst="rect">
            <a:avLst/>
          </a:prstGeom>
        </p:spPr>
      </p:pic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20200" y="2289720"/>
            <a:ext cx="2124075" cy="3048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0820400" y="376237"/>
            <a:ext cx="585097" cy="161583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050" b="1" i="0" u="none" dirty="0">
                <a:solidFill>
                  <a:srgbClr val="0F172A"/>
                </a:solidFill>
                <a:latin typeface="Calibri" panose="020F0502020204030204" pitchFamily="34" charset="0"/>
              </a:rPr>
              <a:t>OUR PLAN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9600" y="1152525"/>
            <a:ext cx="11582400" cy="36567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2879"/>
              </a:lnSpc>
            </a:pPr>
            <a:r>
              <a:rPr sz="2400" b="1" i="0" u="none">
                <a:solidFill>
                  <a:srgbClr val="0F172A"/>
                </a:solidFill>
                <a:latin typeface="Montserrat"/>
              </a:rPr>
              <a:t>Project Management Standards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9600" y="1594395"/>
            <a:ext cx="3775072" cy="184666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200" b="0" i="0" u="none" dirty="0">
                <a:solidFill>
                  <a:srgbClr val="64748B"/>
                </a:solidFill>
                <a:latin typeface="Calibri" panose="020F0502020204030204" pitchFamily="34" charset="0"/>
              </a:rPr>
              <a:t>Structured execution, quality assurance, and weekly tracking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9600" y="6477000"/>
            <a:ext cx="1902765" cy="150041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975" b="0" i="0" u="none" dirty="0" err="1">
                <a:solidFill>
                  <a:srgbClr val="0F172A"/>
                </a:solidFill>
                <a:latin typeface="Calibri" panose="020F0502020204030204" pitchFamily="34" charset="0"/>
              </a:rPr>
              <a:t>WeatherLab</a:t>
            </a:r>
            <a:r>
              <a:rPr sz="975" b="0" i="0" u="none" dirty="0">
                <a:solidFill>
                  <a:srgbClr val="0F172A"/>
                </a:solidFill>
                <a:latin typeface="Calibri" panose="020F0502020204030204" pitchFamily="34" charset="0"/>
              </a:rPr>
              <a:t> | Governance &amp; Method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15675" y="6477000"/>
            <a:ext cx="400751" cy="150041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975" b="0" i="0" u="none" dirty="0">
                <a:solidFill>
                  <a:srgbClr val="0F172A"/>
                </a:solidFill>
                <a:latin typeface="Calibri" panose="020F0502020204030204" pitchFamily="34" charset="0"/>
              </a:rPr>
              <a:t>Slide 07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7725" y="5552926"/>
            <a:ext cx="650819" cy="138499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900" b="1" i="0" u="none" dirty="0">
                <a:solidFill>
                  <a:srgbClr val="EF4444"/>
                </a:solidFill>
                <a:latin typeface="Calibri" panose="020F0502020204030204" pitchFamily="34" charset="0"/>
              </a:rPr>
              <a:t>MANDATORY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38550" y="5552926"/>
            <a:ext cx="650819" cy="138499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900" b="1" i="0" u="none" dirty="0">
                <a:solidFill>
                  <a:srgbClr val="EF4444"/>
                </a:solidFill>
                <a:latin typeface="Calibri" panose="020F0502020204030204" pitchFamily="34" charset="0"/>
              </a:rPr>
              <a:t>MANDATORY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29375" y="5552926"/>
            <a:ext cx="650819" cy="138499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900" b="1" i="0" u="none" dirty="0">
                <a:solidFill>
                  <a:srgbClr val="EF4444"/>
                </a:solidFill>
                <a:latin typeface="Calibri" panose="020F0502020204030204" pitchFamily="34" charset="0"/>
              </a:rPr>
              <a:t>MANDATORY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220200" y="5552926"/>
            <a:ext cx="650819" cy="138499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900" b="1" i="0" u="none" dirty="0">
                <a:solidFill>
                  <a:srgbClr val="EF4444"/>
                </a:solidFill>
                <a:latin typeface="Calibri" panose="020F0502020204030204" pitchFamily="34" charset="0"/>
              </a:rPr>
              <a:t>MANDATORY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7725" y="3692723"/>
            <a:ext cx="840808" cy="207749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350" b="1" i="0" u="none" dirty="0">
                <a:solidFill>
                  <a:srgbClr val="0F172A"/>
                </a:solidFill>
                <a:latin typeface="Calibri" panose="020F0502020204030204" pitchFamily="34" charset="0"/>
              </a:rPr>
              <a:t>Organigram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47725" y="3968948"/>
            <a:ext cx="2219325" cy="3231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 i="0" u="none" dirty="0">
                <a:solidFill>
                  <a:srgbClr val="64748B"/>
                </a:solidFill>
                <a:latin typeface="Calibri" panose="020F0502020204030204" pitchFamily="34" charset="0"/>
              </a:rPr>
              <a:t>Formal team structure and clear role descriptions for each member.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638550" y="3773685"/>
            <a:ext cx="1345561" cy="207749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350" b="1" i="0" u="none" dirty="0">
                <a:solidFill>
                  <a:srgbClr val="0F172A"/>
                </a:solidFill>
                <a:latin typeface="Calibri" panose="020F0502020204030204" pitchFamily="34" charset="0"/>
              </a:rPr>
              <a:t>CPM Network Plan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38550" y="4049910"/>
            <a:ext cx="2219325" cy="3238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 i="0" u="none" dirty="0" err="1">
                <a:solidFill>
                  <a:srgbClr val="64748B"/>
                </a:solidFill>
                <a:latin typeface="Calibri" panose="020F0502020204030204" pitchFamily="34" charset="0"/>
              </a:rPr>
              <a:t>ProjectLibre</a:t>
            </a:r>
            <a:r>
              <a:rPr sz="1050" b="0" i="0" u="none" dirty="0">
                <a:solidFill>
                  <a:srgbClr val="64748B"/>
                </a:solidFill>
                <a:latin typeface="Calibri" panose="020F0502020204030204" pitchFamily="34" charset="0"/>
              </a:rPr>
              <a:t> plan identifying critical paths and milestones.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29375" y="3692723"/>
            <a:ext cx="1241174" cy="207749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350" b="1" i="0" u="none" dirty="0">
                <a:solidFill>
                  <a:srgbClr val="0F172A"/>
                </a:solidFill>
                <a:latin typeface="Calibri" panose="020F0502020204030204" pitchFamily="34" charset="0"/>
              </a:rPr>
              <a:t>Weekly Protocols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29375" y="3968948"/>
            <a:ext cx="2219325" cy="3231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 i="0" u="none" dirty="0">
                <a:solidFill>
                  <a:srgbClr val="64748B"/>
                </a:solidFill>
                <a:latin typeface="Calibri" panose="020F0502020204030204" pitchFamily="34" charset="0"/>
              </a:rPr>
              <a:t>Signed weekly activity reports documenting progress and targets.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20200" y="3773685"/>
            <a:ext cx="986039" cy="207749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350" b="1" i="0" u="none" dirty="0">
                <a:solidFill>
                  <a:srgbClr val="0F172A"/>
                </a:solidFill>
                <a:latin typeface="Calibri" panose="020F0502020204030204" pitchFamily="34" charset="0"/>
              </a:rPr>
              <a:t>Time Tracking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220200" y="4049910"/>
            <a:ext cx="2219325" cy="3238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 i="0" u="none" dirty="0" err="1">
                <a:solidFill>
                  <a:srgbClr val="64748B"/>
                </a:solidFill>
                <a:latin typeface="Calibri" panose="020F0502020204030204" pitchFamily="34" charset="0"/>
              </a:rPr>
              <a:t>Kimai</a:t>
            </a:r>
            <a:r>
              <a:rPr sz="1050" b="0" i="0" u="none" dirty="0">
                <a:solidFill>
                  <a:srgbClr val="64748B"/>
                </a:solidFill>
                <a:latin typeface="Calibri" panose="020F0502020204030204" pitchFamily="34" charset="0"/>
              </a:rPr>
              <a:t> software logging personal workload and hourly effort.</a:t>
            </a:r>
          </a:p>
        </p:txBody>
      </p:sp>
      <p:pic>
        <p:nvPicPr>
          <p:cNvPr id="31" name="Picture 2">
            <a:extLst>
              <a:ext uri="{FF2B5EF4-FFF2-40B4-BE49-F238E27FC236}">
                <a16:creationId xmlns:a16="http://schemas.microsoft.com/office/drawing/2014/main" id="{7F762A0F-B72E-4A12-9BAC-CEF7302929D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22542"/>
            <a:ext cx="2364382" cy="4059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6315075"/>
            <a:ext cx="12192000" cy="542925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6315075"/>
            <a:ext cx="12192000" cy="9525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0887075" y="376237"/>
            <a:ext cx="532197" cy="161583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050" b="1" i="0" u="none" dirty="0">
                <a:solidFill>
                  <a:srgbClr val="0F172A"/>
                </a:solidFill>
                <a:latin typeface="Calibri" panose="020F0502020204030204" pitchFamily="34" charset="0"/>
              </a:rPr>
              <a:t>TIMELINE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9600" y="1152525"/>
            <a:ext cx="11582400" cy="36567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2879"/>
              </a:lnSpc>
            </a:pPr>
            <a:r>
              <a:rPr sz="2400" b="1" i="0" u="none" dirty="0">
                <a:solidFill>
                  <a:srgbClr val="0F172A"/>
                </a:solidFill>
                <a:latin typeface="Montserrat"/>
              </a:rPr>
              <a:t>Project Roadmap &amp; Milestones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9600" y="1594395"/>
            <a:ext cx="3624326" cy="184666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200" b="0" i="0" u="none" dirty="0">
                <a:solidFill>
                  <a:srgbClr val="64748B"/>
                </a:solidFill>
                <a:latin typeface="Calibri" panose="020F0502020204030204" pitchFamily="34" charset="0"/>
              </a:rPr>
              <a:t>Phased progression from initial setup to final presentation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9600" y="6477000"/>
            <a:ext cx="1691169" cy="150041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975" b="0" i="0" u="none" dirty="0" err="1">
                <a:solidFill>
                  <a:srgbClr val="0F172A"/>
                </a:solidFill>
                <a:latin typeface="Calibri" panose="020F0502020204030204" pitchFamily="34" charset="0"/>
              </a:rPr>
              <a:t>WeatherLab</a:t>
            </a:r>
            <a:r>
              <a:rPr sz="975" b="0" i="0" u="none" dirty="0">
                <a:solidFill>
                  <a:srgbClr val="0F172A"/>
                </a:solidFill>
                <a:latin typeface="Calibri" panose="020F0502020204030204" pitchFamily="34" charset="0"/>
              </a:rPr>
              <a:t> | Project Milestones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06150" y="6477000"/>
            <a:ext cx="400751" cy="150041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975" b="0" i="0" u="none" dirty="0">
                <a:solidFill>
                  <a:srgbClr val="0F172A"/>
                </a:solidFill>
                <a:latin typeface="Calibri" panose="020F0502020204030204" pitchFamily="34" charset="0"/>
              </a:rPr>
              <a:t>Slide 08</a:t>
            </a:r>
          </a:p>
        </p:txBody>
      </p:sp>
      <p:pic>
        <p:nvPicPr>
          <p:cNvPr id="31" name="Picture 2">
            <a:extLst>
              <a:ext uri="{FF2B5EF4-FFF2-40B4-BE49-F238E27FC236}">
                <a16:creationId xmlns:a16="http://schemas.microsoft.com/office/drawing/2014/main" id="{BF4C0341-015D-43F2-B396-7B8E8569561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22542"/>
            <a:ext cx="2364382" cy="4059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7" name="Grafik 36">
            <a:extLst>
              <a:ext uri="{FF2B5EF4-FFF2-40B4-BE49-F238E27FC236}">
                <a16:creationId xmlns:a16="http://schemas.microsoft.com/office/drawing/2014/main" id="{EF5E4BE0-6A1E-44FB-8369-B55CAACB507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36024" y="427374"/>
            <a:ext cx="5988422" cy="5659101"/>
          </a:xfrm>
          <a:prstGeom prst="rect">
            <a:avLst/>
          </a:prstGeom>
        </p:spPr>
      </p:pic>
      <p:pic>
        <p:nvPicPr>
          <p:cNvPr id="39" name="Grafik 38">
            <a:extLst>
              <a:ext uri="{FF2B5EF4-FFF2-40B4-BE49-F238E27FC236}">
                <a16:creationId xmlns:a16="http://schemas.microsoft.com/office/drawing/2014/main" id="{F4AC5D3D-6B7C-4E7A-8764-B0E0C17AED0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600" y="1884679"/>
            <a:ext cx="4401301" cy="4199605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609600" y="5715000"/>
            <a:ext cx="10972800" cy="6096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810250" y="4243387"/>
            <a:ext cx="571500" cy="38100"/>
          </a:xfrm>
          <a:prstGeom prst="rect">
            <a:avLst/>
          </a:prstGeom>
          <a:solidFill>
            <a:srgbClr val="EF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609600" y="5715000"/>
            <a:ext cx="10972800" cy="9525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115550" y="638175"/>
            <a:ext cx="1203856" cy="161583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050" b="0" i="0" u="none" dirty="0">
                <a:solidFill>
                  <a:srgbClr val="94A3B8"/>
                </a:solidFill>
                <a:latin typeface="Calibri" panose="020F0502020204030204" pitchFamily="34" charset="0"/>
              </a:rPr>
              <a:t>Class 4bITS | BS 2 Linz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5375" y="2338387"/>
            <a:ext cx="10001250" cy="1295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4200" b="1" i="0" u="none">
                <a:solidFill>
                  <a:srgbClr val="FFFFFF"/>
                </a:solidFill>
                <a:latin typeface="Montserrat"/>
              </a:rPr>
              <a:t>Thank You for Your Attention!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165745" y="3786187"/>
            <a:ext cx="1860509" cy="230832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1500" b="1" i="0" u="none" dirty="0">
                <a:solidFill>
                  <a:srgbClr val="EF4444"/>
                </a:solidFill>
                <a:latin typeface="Calibri" panose="020F0502020204030204" pitchFamily="34" charset="0"/>
              </a:rPr>
              <a:t>Questions &amp; Discussion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9600" y="5953125"/>
            <a:ext cx="671659" cy="150041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975" b="0" i="0" u="none" dirty="0">
                <a:solidFill>
                  <a:srgbClr val="94A3B8"/>
                </a:solidFill>
                <a:latin typeface="Calibri" panose="020F0502020204030204" pitchFamily="34" charset="0"/>
              </a:rPr>
              <a:t>Project Team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9600" y="6143625"/>
            <a:ext cx="3422412" cy="173124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125" b="1" i="0" u="none" dirty="0">
                <a:solidFill>
                  <a:srgbClr val="FFFFFF"/>
                </a:solidFill>
                <a:latin typeface="Calibri" panose="020F0502020204030204" pitchFamily="34" charset="0"/>
              </a:rPr>
              <a:t>David S. | Andrea R. | Fabian S. | Julian W. | Matthias W.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2965" y="5953125"/>
            <a:ext cx="979434" cy="150041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/>
            <a:r>
              <a:rPr sz="975" b="0" i="0" u="none" dirty="0">
                <a:solidFill>
                  <a:srgbClr val="94A3B8"/>
                </a:solidFill>
                <a:latin typeface="Calibri" panose="020F0502020204030204" pitchFamily="34" charset="0"/>
              </a:rPr>
              <a:t>Project Supervision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944130" y="6143625"/>
            <a:ext cx="1638269" cy="173124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/>
            <a:r>
              <a:rPr sz="1125" b="1" i="0" u="none" dirty="0">
                <a:solidFill>
                  <a:srgbClr val="FFFFFF"/>
                </a:solidFill>
                <a:latin typeface="Calibri" panose="020F0502020204030204" pitchFamily="34" charset="0"/>
              </a:rPr>
              <a:t>BS 2 Linz - </a:t>
            </a:r>
            <a:r>
              <a:rPr sz="1125" b="1" i="0" u="none" dirty="0" err="1">
                <a:solidFill>
                  <a:srgbClr val="FFFFFF"/>
                </a:solidFill>
                <a:latin typeface="Calibri" panose="020F0502020204030204" pitchFamily="34" charset="0"/>
              </a:rPr>
              <a:t>Steinegger</a:t>
            </a:r>
            <a:r>
              <a:rPr sz="1125" b="1" i="0" u="none" dirty="0">
                <a:solidFill>
                  <a:srgbClr val="FFFFFF"/>
                </a:solidFill>
                <a:latin typeface="Calibri" panose="020F0502020204030204" pitchFamily="34" charset="0"/>
              </a:rPr>
              <a:t> David</a:t>
            </a:r>
          </a:p>
        </p:txBody>
      </p:sp>
      <p:pic>
        <p:nvPicPr>
          <p:cNvPr id="14" name="Picture 2">
            <a:extLst>
              <a:ext uri="{FF2B5EF4-FFF2-40B4-BE49-F238E27FC236}">
                <a16:creationId xmlns:a16="http://schemas.microsoft.com/office/drawing/2014/main" id="{99614C63-FEC6-4CF0-9D5C-41948E93CE2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74055" y="1308760"/>
            <a:ext cx="6243890" cy="107199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kument" ma:contentTypeID="0x0101008302923C213E1D49B0FE43BB7EB42906" ma:contentTypeVersion="3" ma:contentTypeDescription="Ein neues Dokument erstellen." ma:contentTypeScope="" ma:versionID="b2021dd408aecd32ecb11d4d4e046c9a">
  <xsd:schema xmlns:xsd="http://www.w3.org/2001/XMLSchema" xmlns:xs="http://www.w3.org/2001/XMLSchema" xmlns:p="http://schemas.microsoft.com/office/2006/metadata/properties" xmlns:ns2="58fef34b-cee2-473e-8e19-b4818b439ed4" targetNamespace="http://schemas.microsoft.com/office/2006/metadata/properties" ma:root="true" ma:fieldsID="bb752bbc83de2a2606eaf5951a71c837" ns2:_="">
    <xsd:import namespace="58fef34b-cee2-473e-8e19-b4818b439ed4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58fef34b-cee2-473e-8e19-b4818b439ed4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Inhaltstyp"/>
        <xsd:element ref="dc:title" minOccurs="0" maxOccurs="1" ma:index="4" ma:displayName="Titel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2B411CF0-AB01-447C-96A7-498F8696AC3B}">
  <ds:schemaRefs>
    <ds:schemaRef ds:uri="http://purl.org/dc/elements/1.1/"/>
    <ds:schemaRef ds:uri="http://schemas.microsoft.com/office/2006/documentManagement/types"/>
    <ds:schemaRef ds:uri="http://purl.org/dc/dcmitype/"/>
    <ds:schemaRef ds:uri="http://schemas.openxmlformats.org/package/2006/metadata/core-properties"/>
    <ds:schemaRef ds:uri="http://schemas.microsoft.com/office/infopath/2007/PartnerControls"/>
    <ds:schemaRef ds:uri="http://schemas.microsoft.com/office/2006/metadata/properties"/>
    <ds:schemaRef ds:uri="http://purl.org/dc/terms/"/>
    <ds:schemaRef ds:uri="58fef34b-cee2-473e-8e19-b4818b439ed4"/>
    <ds:schemaRef ds:uri="http://www.w3.org/XML/1998/namespace"/>
  </ds:schemaRefs>
</ds:datastoreItem>
</file>

<file path=customXml/itemProps2.xml><?xml version="1.0" encoding="utf-8"?>
<ds:datastoreItem xmlns:ds="http://schemas.openxmlformats.org/officeDocument/2006/customXml" ds:itemID="{6CDD9431-34F3-44E6-BF94-0EE86E13DDF8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B65D78D1-A842-4E5C-827E-2A085D8791AD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58fef34b-cee2-473e-8e19-b4818b439ed4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890</Words>
  <Application>Microsoft Office PowerPoint</Application>
  <PresentationFormat>Breitbild</PresentationFormat>
  <Paragraphs>191</Paragraphs>
  <Slides>12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3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12</vt:i4>
      </vt:variant>
    </vt:vector>
  </HeadingPairs>
  <TitlesOfParts>
    <vt:vector size="16" baseType="lpstr">
      <vt:lpstr>Arial</vt:lpstr>
      <vt:lpstr>Calibri</vt:lpstr>
      <vt:lpstr>Montserrat</vt:lpstr>
      <vt:lpstr>Office Theme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PowerPoint-Präsentation</dc:title>
  <dc:subject/>
  <dc:creator>Roithmeier Andrea</dc:creator>
  <cp:keywords/>
  <dc:description>generated using python-pptx</dc:description>
  <cp:lastModifiedBy>Andrea Roithmeier</cp:lastModifiedBy>
  <cp:revision>11</cp:revision>
  <dcterms:created xsi:type="dcterms:W3CDTF">2013-01-27T09:14:16Z</dcterms:created>
  <dcterms:modified xsi:type="dcterms:W3CDTF">2026-09-22T14:42:46Z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0x0101008302923C213E1D49B0FE43BB7EB42906</vt:lpwstr>
  </property>
</Properties>
</file>