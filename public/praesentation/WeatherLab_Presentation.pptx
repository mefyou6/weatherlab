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62" r:id="rId8"/>
    <p:sldId id="263" r:id="rId9"/>
    <p:sldId id="259" r:id="rId10"/>
    <p:sldId id="266" r:id="rId11"/>
    <p:sldId id="260" r:id="rId12"/>
    <p:sldId id="261" r:id="rId13"/>
    <p:sldId id="268" r:id="rId14"/>
    <p:sldId id="267" r:id="rId15"/>
  </p:sldIdLst>
  <p:sldSz cx="12192000" cy="6858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D5DDE7"/>
    <a:srgbClr val="EF4444"/>
    <a:srgbClr val="E2E8F0"/>
    <a:srgbClr val="0F172A"/>
    <a:srgbClr val="FEF2F2"/>
    <a:srgbClr val="FCA5A5"/>
    <a:srgbClr val="F351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487FE-F2F8-A580-E5DD-B4B797BC45CD}" v="14" dt="2026-10-20T08:57:30.362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7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Roithmeier" userId="S::andrea.roithmeier@students.bs-linz2.ac.at::723679b5-f32d-429d-bcfb-cec71b1f687a" providerId="AD" clId="Web-{6DF487FE-F2F8-A580-E5DD-B4B797BC45CD}"/>
    <pc:docChg chg="modSld">
      <pc:chgData name="Andrea Roithmeier" userId="S::andrea.roithmeier@students.bs-linz2.ac.at::723679b5-f32d-429d-bcfb-cec71b1f687a" providerId="AD" clId="Web-{6DF487FE-F2F8-A580-E5DD-B4B797BC45CD}" dt="2026-10-20T08:57:30.362" v="13" actId="20577"/>
      <pc:docMkLst>
        <pc:docMk/>
      </pc:docMkLst>
      <pc:sldChg chg="modSp">
        <pc:chgData name="Andrea Roithmeier" userId="S::andrea.roithmeier@students.bs-linz2.ac.at::723679b5-f32d-429d-bcfb-cec71b1f687a" providerId="AD" clId="Web-{6DF487FE-F2F8-A580-E5DD-B4B797BC45CD}" dt="2026-10-20T08:57:30.362" v="13" actId="20577"/>
        <pc:sldMkLst>
          <pc:docMk/>
          <pc:sldMk cId="0" sldId="257"/>
        </pc:sldMkLst>
        <pc:spChg chg="mod">
          <ac:chgData name="Andrea Roithmeier" userId="S::andrea.roithmeier@students.bs-linz2.ac.at::723679b5-f32d-429d-bcfb-cec71b1f687a" providerId="AD" clId="Web-{6DF487FE-F2F8-A580-E5DD-B4B797BC45CD}" dt="2026-10-20T08:57:30.362" v="13" actId="20577"/>
          <ac:spMkLst>
            <pc:docMk/>
            <pc:sldMk cId="0" sldId="257"/>
            <ac:spMk id="81" creationId="{9A607612-6E88-412A-BC48-939B7FEB6C0F}"/>
          </ac:spMkLst>
        </pc:spChg>
      </pc:sldChg>
      <pc:sldChg chg="modSp">
        <pc:chgData name="Andrea Roithmeier" userId="S::andrea.roithmeier@students.bs-linz2.ac.at::723679b5-f32d-429d-bcfb-cec71b1f687a" providerId="AD" clId="Web-{6DF487FE-F2F8-A580-E5DD-B4B797BC45CD}" dt="2026-10-20T08:48:13.725" v="7"/>
        <pc:sldMkLst>
          <pc:docMk/>
          <pc:sldMk cId="0" sldId="268"/>
        </pc:sldMkLst>
        <pc:graphicFrameChg chg="mod modGraphic">
          <ac:chgData name="Andrea Roithmeier" userId="S::andrea.roithmeier@students.bs-linz2.ac.at::723679b5-f32d-429d-bcfb-cec71b1f687a" providerId="AD" clId="Web-{6DF487FE-F2F8-A580-E5DD-B4B797BC45CD}" dt="2026-10-20T08:48:13.725" v="7"/>
          <ac:graphicFrameMkLst>
            <pc:docMk/>
            <pc:sldMk cId="0" sldId="268"/>
            <ac:graphicFrameMk id="60" creationId="{2602F297-D9EE-4B08-8F4E-F625D201F46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5DDE-18F7-4A33-99EF-DA05387E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3B653-8E4D-4F7E-9CF9-9256C776A187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A533-AE39-4072-92ED-6DC3675D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6F649-26EB-4BB1-98EB-71851A45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94BC-55E9-4E23-9F06-632D71205E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1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CF9FA-288E-4C66-869E-CAE98967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07B9A-B788-424C-B81B-CA4A8E436A6B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21795-35BA-4A61-BD5C-28DAD00E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0D579-9BD3-4812-B5FE-852E92A2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A7897-B370-4C0C-853C-2B4F56E12A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8FE39-D56F-4211-B305-A75FC7A9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0017E-BA15-477B-8EE6-536A031DC895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3757E-C6EC-408A-9674-B810368A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9EF9A-A16F-4FC9-9BFF-3D9E6AB3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8ECD1-E6C1-44D1-A830-1C13ADA8CD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D97700-53AD-4861-8D25-A5F3A938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D1D6F3-3708-4623-AE0E-4EEA7711F500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29343D-9D1D-464B-AE3F-16C270B3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D68FB4-6879-4639-995F-7CDF34B5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B23DE-7EC3-4597-A6B1-6108796113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8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13E66A0-C126-478C-9158-38FC16B4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371C1-C699-483C-8AB7-C632847E02CA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C3EFAC8-4CD9-4419-B1DF-8D994027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9422D0-318D-4F28-A1EE-7BA88CB5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50BEF-2E3D-4CED-9B4F-A004DFD64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2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7B6DC3-175B-4587-85DC-D12EE755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FAF3A-B7DA-4D78-A2DA-504DF73C0140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DA4A1-7E86-4700-8FC4-9FC4FD73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AC62D5-9A9D-416C-BB52-81833965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1C2B4-8297-4501-B5AB-4B68B137FD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8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A5F3E37-25D0-4FFE-81EB-D4F79DBE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8DE91-EBB6-46F0-AEB9-1EFD9ADAFA8D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CBFF62-5EE3-414E-88F9-774C3F9A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C50CAC-61CB-45ED-943D-FAFAB5A9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BBE37-BD80-46A3-BB4A-7B11D548EB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5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824FA74-1904-4659-A281-8D2B52F4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71D8C-AE32-47BD-B184-51721988E3DD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414D01E-84B0-4E0E-8C59-661D519B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F4B42F-E1C1-442D-858F-90C230F2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C683A-EBC2-47CB-8A55-4740484AE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2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134990-47EE-464B-92EA-E7CDDEE6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17FD8-5827-44DD-AE02-FA9F3F46033E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1002483-833A-4198-B783-7263E54A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B1DB01-6833-47D7-8B5C-AD387D0C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7FBAA-E5FB-4CAF-BB92-B19CEE0638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9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F0C0-FF65-4819-BEBD-6B95C0B2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59789-AF61-4E39-A578-5949D6771E13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96C28-023B-4241-95E9-7B89A66F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2E344-3C4A-4FAD-988E-AD0900C6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43488-9212-40EA-8980-3ABA5E3E18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CE006-543C-4EF0-9FB5-F540CEE7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07DFD-CABA-4156-A67B-D0EC8C4D2AA2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E5233-E338-449A-93BC-D4CA38EA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EDD31-9272-4813-9177-39DA087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3FA5F-13B0-4AEE-884C-60D5AA4B97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1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138F28C-545B-4939-9117-4CAC7E59E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21090B5-8096-4DF5-B820-D144A23D4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37237-32E2-410A-A95B-340CF1A07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18D1E42-0853-488C-A8EE-826FB05D54C2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7646B-D727-4799-B0CA-FF5604AD9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3DE47-17C5-4148-B658-51CFC797E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CCA9434-FC74-4B08-ACE4-D7D07A763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image.png">
            <a:extLst>
              <a:ext uri="{FF2B5EF4-FFF2-40B4-BE49-F238E27FC236}">
                <a16:creationId xmlns:a16="http://schemas.microsoft.com/office/drawing/2014/main" id="{29D3D2FD-F4FB-48DB-A85F-6329D8E7A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2D496C-9F95-4185-98AE-2C38DB4FA996}"/>
              </a:ext>
            </a:extLst>
          </p:cNvPr>
          <p:cNvSpPr/>
          <p:nvPr/>
        </p:nvSpPr>
        <p:spPr>
          <a:xfrm>
            <a:off x="609600" y="5667375"/>
            <a:ext cx="109728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CF821AD-E86D-49EF-A947-9220DECC4005}"/>
              </a:ext>
            </a:extLst>
          </p:cNvPr>
          <p:cNvSpPr/>
          <p:nvPr/>
        </p:nvSpPr>
        <p:spPr>
          <a:xfrm>
            <a:off x="9658350" y="590550"/>
            <a:ext cx="1924050" cy="333375"/>
          </a:xfrm>
          <a:prstGeom prst="roundRect">
            <a:avLst>
              <a:gd name="adj" fmla="val 50000"/>
            </a:avLst>
          </a:prstGeom>
          <a:solidFill>
            <a:srgbClr val="2C3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FB595-9C8A-4337-85F9-49ACF1AAB326}"/>
              </a:ext>
            </a:extLst>
          </p:cNvPr>
          <p:cNvSpPr/>
          <p:nvPr/>
        </p:nvSpPr>
        <p:spPr>
          <a:xfrm>
            <a:off x="609600" y="56673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B9CE6-D39B-41D5-9A77-AD17DF0EF65D}"/>
              </a:ext>
            </a:extLst>
          </p:cNvPr>
          <p:cNvSpPr txBox="1"/>
          <p:nvPr/>
        </p:nvSpPr>
        <p:spPr>
          <a:xfrm>
            <a:off x="9829800" y="666750"/>
            <a:ext cx="1676400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CBD5E1"/>
                </a:solidFill>
              </a:rPr>
              <a:t>BS 2 Linz | Class 4bITS</a:t>
            </a:r>
          </a:p>
        </p:txBody>
      </p:sp>
      <p:sp>
        <p:nvSpPr>
          <p:cNvPr id="2055" name="TextBox 7">
            <a:extLst>
              <a:ext uri="{FF2B5EF4-FFF2-40B4-BE49-F238E27FC236}">
                <a16:creationId xmlns:a16="http://schemas.microsoft.com/office/drawing/2014/main" id="{9AEE2DAF-B5EE-4C96-A729-C3B6D8796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2713038"/>
            <a:ext cx="28495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 b="1">
                <a:solidFill>
                  <a:srgbClr val="EF4444"/>
                </a:solidFill>
              </a:rPr>
              <a:t>IOT ENVIRONMENTAL MONITORING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F5372-31B6-4732-9B1F-80A7E8300780}"/>
              </a:ext>
            </a:extLst>
          </p:cNvPr>
          <p:cNvSpPr txBox="1"/>
          <p:nvPr/>
        </p:nvSpPr>
        <p:spPr>
          <a:xfrm>
            <a:off x="1970088" y="3017838"/>
            <a:ext cx="8601075" cy="12049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4657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050" b="1" dirty="0">
                <a:solidFill>
                  <a:srgbClr val="FFFFFF"/>
                </a:solidFill>
                <a:latin typeface="Montserrat"/>
              </a:rPr>
              <a:t>Smart Weather Station &amp; Quality Control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36AAB-A926-4F1F-AFBF-E947F374AECE}"/>
              </a:ext>
            </a:extLst>
          </p:cNvPr>
          <p:cNvSpPr txBox="1"/>
          <p:nvPr/>
        </p:nvSpPr>
        <p:spPr>
          <a:xfrm>
            <a:off x="2794000" y="4391025"/>
            <a:ext cx="6953250" cy="250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25" dirty="0">
                <a:solidFill>
                  <a:srgbClr val="E2E8F0"/>
                </a:solidFill>
              </a:rPr>
              <a:t>Continuous atmospheric sensing, local web server visualization, and live forecasting system.</a:t>
            </a:r>
          </a:p>
        </p:txBody>
      </p:sp>
      <p:sp>
        <p:nvSpPr>
          <p:cNvPr id="2058" name="TextBox 11">
            <a:extLst>
              <a:ext uri="{FF2B5EF4-FFF2-40B4-BE49-F238E27FC236}">
                <a16:creationId xmlns:a16="http://schemas.microsoft.com/office/drawing/2014/main" id="{6F602572-9D75-4066-9A2F-E0622272D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905500"/>
            <a:ext cx="12541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EF4444"/>
                </a:solidFill>
              </a:rPr>
              <a:t>PROJECT TEAM MEMBERS</a:t>
            </a:r>
          </a:p>
        </p:txBody>
      </p:sp>
      <p:sp>
        <p:nvSpPr>
          <p:cNvPr id="2059" name="TextBox 12">
            <a:extLst>
              <a:ext uri="{FF2B5EF4-FFF2-40B4-BE49-F238E27FC236}">
                <a16:creationId xmlns:a16="http://schemas.microsoft.com/office/drawing/2014/main" id="{1FCFEAE6-1F0A-4CBB-B175-DCFDD96FE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6263" y="5962650"/>
            <a:ext cx="846137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de-DE" altLang="de-DE" sz="900">
                <a:solidFill>
                  <a:srgbClr val="94A3B8"/>
                </a:solidFill>
              </a:rPr>
              <a:t>Project Assistance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6EF43-66E1-4E51-9BB3-41C8A727556C}"/>
              </a:ext>
            </a:extLst>
          </p:cNvPr>
          <p:cNvSpPr txBox="1"/>
          <p:nvPr/>
        </p:nvSpPr>
        <p:spPr>
          <a:xfrm>
            <a:off x="10571163" y="6143625"/>
            <a:ext cx="1011237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David </a:t>
            </a:r>
            <a:r>
              <a:rPr sz="1125" b="1" dirty="0" err="1">
                <a:solidFill>
                  <a:srgbClr val="FFFFFF"/>
                </a:solidFill>
              </a:rPr>
              <a:t>Steinegger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EA715-5DC4-4C23-95CE-CC8871A70042}"/>
              </a:ext>
            </a:extLst>
          </p:cNvPr>
          <p:cNvSpPr txBox="1"/>
          <p:nvPr/>
        </p:nvSpPr>
        <p:spPr>
          <a:xfrm>
            <a:off x="609600" y="6143625"/>
            <a:ext cx="855663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David </a:t>
            </a:r>
            <a:r>
              <a:rPr sz="1125" b="1" dirty="0" err="1">
                <a:solidFill>
                  <a:srgbClr val="FFFFFF"/>
                </a:solidFill>
              </a:rPr>
              <a:t>Sageder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68CB6-B462-4F04-9CC5-CC8B0D9FCEB9}"/>
              </a:ext>
            </a:extLst>
          </p:cNvPr>
          <p:cNvSpPr txBox="1"/>
          <p:nvPr/>
        </p:nvSpPr>
        <p:spPr>
          <a:xfrm>
            <a:off x="1857375" y="6143625"/>
            <a:ext cx="1136650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Andrea Roithmeier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D10A95-5AD9-4210-8D29-B8EBC5DDBCD3}"/>
              </a:ext>
            </a:extLst>
          </p:cNvPr>
          <p:cNvSpPr txBox="1"/>
          <p:nvPr/>
        </p:nvSpPr>
        <p:spPr>
          <a:xfrm>
            <a:off x="3381375" y="6143625"/>
            <a:ext cx="781050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Fabian Seelig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412891-8068-4629-B0E2-0AB247467EA8}"/>
              </a:ext>
            </a:extLst>
          </p:cNvPr>
          <p:cNvSpPr txBox="1"/>
          <p:nvPr/>
        </p:nvSpPr>
        <p:spPr>
          <a:xfrm>
            <a:off x="4543425" y="6143625"/>
            <a:ext cx="977900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Julian </a:t>
            </a:r>
            <a:r>
              <a:rPr sz="1125" b="1" dirty="0" err="1">
                <a:solidFill>
                  <a:srgbClr val="FFFFFF"/>
                </a:solidFill>
              </a:rPr>
              <a:t>Weißböck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BA6D80-372F-4766-9400-7BB05F5916E2}"/>
              </a:ext>
            </a:extLst>
          </p:cNvPr>
          <p:cNvSpPr txBox="1"/>
          <p:nvPr/>
        </p:nvSpPr>
        <p:spPr>
          <a:xfrm>
            <a:off x="5924550" y="6143625"/>
            <a:ext cx="1266825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Matthias </a:t>
            </a:r>
            <a:r>
              <a:rPr sz="1125" b="1" dirty="0" err="1">
                <a:solidFill>
                  <a:srgbClr val="FFFFFF"/>
                </a:solidFill>
              </a:rPr>
              <a:t>Winklehner</a:t>
            </a:r>
            <a:endParaRPr sz="1125" b="1" dirty="0">
              <a:solidFill>
                <a:srgbClr val="FFFFFF"/>
              </a:solidFill>
            </a:endParaRPr>
          </a:p>
        </p:txBody>
      </p:sp>
      <p:pic>
        <p:nvPicPr>
          <p:cNvPr id="2066" name="Picture 2">
            <a:extLst>
              <a:ext uri="{FF2B5EF4-FFF2-40B4-BE49-F238E27FC236}">
                <a16:creationId xmlns:a16="http://schemas.microsoft.com/office/drawing/2014/main" id="{791E8EEF-9562-4FD3-B0ED-4DCBCC70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092200"/>
            <a:ext cx="930910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2E2DA-E5F7-4689-88C2-69F26538D75B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AEDEC-95FA-407C-816F-573CD6F22144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2" name="TextBox 19">
            <a:extLst>
              <a:ext uri="{FF2B5EF4-FFF2-40B4-BE49-F238E27FC236}">
                <a16:creationId xmlns:a16="http://schemas.microsoft.com/office/drawing/2014/main" id="{D665E981-02A4-4FF3-9D79-6FDF944FE0C6}"/>
              </a:ext>
            </a:extLst>
          </p:cNvPr>
          <p:cNvSpPr txBox="1"/>
          <p:nvPr/>
        </p:nvSpPr>
        <p:spPr>
          <a:xfrm>
            <a:off x="10810875" y="376238"/>
            <a:ext cx="615950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OVERVIEW</a:t>
            </a:r>
          </a:p>
        </p:txBody>
      </p:sp>
      <p:sp>
        <p:nvSpPr>
          <p:cNvPr id="3077" name="TextBox 20">
            <a:extLst>
              <a:ext uri="{FF2B5EF4-FFF2-40B4-BE49-F238E27FC236}">
                <a16:creationId xmlns:a16="http://schemas.microsoft.com/office/drawing/2014/main" id="{0BC70A06-1E63-434B-A3EF-6A25B3388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Table of Contents</a:t>
            </a:r>
          </a:p>
        </p:txBody>
      </p:sp>
      <p:sp>
        <p:nvSpPr>
          <p:cNvPr id="3078" name="TextBox 21">
            <a:extLst>
              <a:ext uri="{FF2B5EF4-FFF2-40B4-BE49-F238E27FC236}">
                <a16:creationId xmlns:a16="http://schemas.microsoft.com/office/drawing/2014/main" id="{536BAC35-DDD1-4F58-9AC9-04115791E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331311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Key topics of the presentation in order</a:t>
            </a:r>
          </a:p>
        </p:txBody>
      </p:sp>
      <p:sp>
        <p:nvSpPr>
          <p:cNvPr id="75" name="TextBox 22">
            <a:extLst>
              <a:ext uri="{FF2B5EF4-FFF2-40B4-BE49-F238E27FC236}">
                <a16:creationId xmlns:a16="http://schemas.microsoft.com/office/drawing/2014/main" id="{C29B9D99-91FE-4650-B6F8-CFFF251FD8F0}"/>
              </a:ext>
            </a:extLst>
          </p:cNvPr>
          <p:cNvSpPr txBox="1"/>
          <p:nvPr/>
        </p:nvSpPr>
        <p:spPr>
          <a:xfrm>
            <a:off x="609600" y="6477000"/>
            <a:ext cx="1843088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Class 4bITS - BS 2 Linz</a:t>
            </a:r>
          </a:p>
        </p:txBody>
      </p:sp>
      <p:sp>
        <p:nvSpPr>
          <p:cNvPr id="76" name="TextBox 23">
            <a:extLst>
              <a:ext uri="{FF2B5EF4-FFF2-40B4-BE49-F238E27FC236}">
                <a16:creationId xmlns:a16="http://schemas.microsoft.com/office/drawing/2014/main" id="{E5568374-7113-403A-BE01-0FB6E7AC0029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02</a:t>
            </a:r>
          </a:p>
        </p:txBody>
      </p:sp>
      <p:pic>
        <p:nvPicPr>
          <p:cNvPr id="3081" name="Picture 2">
            <a:extLst>
              <a:ext uri="{FF2B5EF4-FFF2-40B4-BE49-F238E27FC236}">
                <a16:creationId xmlns:a16="http://schemas.microsoft.com/office/drawing/2014/main" id="{6348D325-66F5-476E-A984-B738B84FC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Rounded 101">
            <a:extLst>
              <a:ext uri="{FF2B5EF4-FFF2-40B4-BE49-F238E27FC236}">
                <a16:creationId xmlns:a16="http://schemas.microsoft.com/office/drawing/2014/main" id="{876F49F8-593E-45CB-95AD-4644D72EC440}"/>
              </a:ext>
            </a:extLst>
          </p:cNvPr>
          <p:cNvSpPr/>
          <p:nvPr/>
        </p:nvSpPr>
        <p:spPr>
          <a:xfrm>
            <a:off x="609600" y="2000250"/>
            <a:ext cx="2571750" cy="190023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9" name="Rectangle 102">
            <a:extLst>
              <a:ext uri="{FF2B5EF4-FFF2-40B4-BE49-F238E27FC236}">
                <a16:creationId xmlns:a16="http://schemas.microsoft.com/office/drawing/2014/main" id="{66484140-5C49-4281-ACCE-72C563261E6B}"/>
              </a:ext>
            </a:extLst>
          </p:cNvPr>
          <p:cNvSpPr/>
          <p:nvPr/>
        </p:nvSpPr>
        <p:spPr>
          <a:xfrm>
            <a:off x="609600" y="2000250"/>
            <a:ext cx="38100" cy="190023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84" name="TextBox 103">
            <a:extLst>
              <a:ext uri="{FF2B5EF4-FFF2-40B4-BE49-F238E27FC236}">
                <a16:creationId xmlns:a16="http://schemas.microsoft.com/office/drawing/2014/main" id="{5615C237-5B7D-4177-9186-5E2129593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230438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01</a:t>
            </a:r>
          </a:p>
        </p:txBody>
      </p:sp>
      <p:sp>
        <p:nvSpPr>
          <p:cNvPr id="81" name="TextBox 104">
            <a:extLst>
              <a:ext uri="{FF2B5EF4-FFF2-40B4-BE49-F238E27FC236}">
                <a16:creationId xmlns:a16="http://schemas.microsoft.com/office/drawing/2014/main" id="{9A607612-6E88-412A-BC48-939B7FEB6C0F}"/>
              </a:ext>
            </a:extLst>
          </p:cNvPr>
          <p:cNvSpPr txBox="1"/>
          <p:nvPr/>
        </p:nvSpPr>
        <p:spPr>
          <a:xfrm>
            <a:off x="800100" y="2900363"/>
            <a:ext cx="2192338" cy="207962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Who </a:t>
            </a:r>
            <a:r>
              <a:rPr lang="en-US" sz="13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we are</a:t>
            </a:r>
            <a:endParaRPr lang="en-US" sz="1350" b="1">
              <a:solidFill>
                <a:srgbClr val="0F172A"/>
              </a:solidFill>
              <a:ea typeface="Calibri"/>
              <a:cs typeface="Calibri"/>
            </a:endParaRPr>
          </a:p>
        </p:txBody>
      </p:sp>
      <p:sp>
        <p:nvSpPr>
          <p:cNvPr id="82" name="TextBox 105">
            <a:extLst>
              <a:ext uri="{FF2B5EF4-FFF2-40B4-BE49-F238E27FC236}">
                <a16:creationId xmlns:a16="http://schemas.microsoft.com/office/drawing/2014/main" id="{FB4FD4F7-C052-45A8-A98D-927261E8EF58}"/>
              </a:ext>
            </a:extLst>
          </p:cNvPr>
          <p:cNvSpPr txBox="1"/>
          <p:nvPr/>
        </p:nvSpPr>
        <p:spPr>
          <a:xfrm>
            <a:off x="800100" y="3209925"/>
            <a:ext cx="2192338" cy="500063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Project team, roles &amp; responsibilities.</a:t>
            </a:r>
          </a:p>
        </p:txBody>
      </p:sp>
      <p:sp>
        <p:nvSpPr>
          <p:cNvPr id="83" name="Rounded 106">
            <a:extLst>
              <a:ext uri="{FF2B5EF4-FFF2-40B4-BE49-F238E27FC236}">
                <a16:creationId xmlns:a16="http://schemas.microsoft.com/office/drawing/2014/main" id="{06FB793D-375C-4148-A7FE-127ACF69DD3C}"/>
              </a:ext>
            </a:extLst>
          </p:cNvPr>
          <p:cNvSpPr/>
          <p:nvPr/>
        </p:nvSpPr>
        <p:spPr>
          <a:xfrm>
            <a:off x="3409950" y="2000250"/>
            <a:ext cx="2571750" cy="190023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4" name="Rectangle 107">
            <a:extLst>
              <a:ext uri="{FF2B5EF4-FFF2-40B4-BE49-F238E27FC236}">
                <a16:creationId xmlns:a16="http://schemas.microsoft.com/office/drawing/2014/main" id="{40C6A27A-B6B8-48C1-B786-A0B3596B8E67}"/>
              </a:ext>
            </a:extLst>
          </p:cNvPr>
          <p:cNvSpPr/>
          <p:nvPr/>
        </p:nvSpPr>
        <p:spPr>
          <a:xfrm>
            <a:off x="3409950" y="2000250"/>
            <a:ext cx="38100" cy="190023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89" name="TextBox 108">
            <a:extLst>
              <a:ext uri="{FF2B5EF4-FFF2-40B4-BE49-F238E27FC236}">
                <a16:creationId xmlns:a16="http://schemas.microsoft.com/office/drawing/2014/main" id="{D2FB5976-9008-41CD-A800-684BE47AA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2230438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02</a:t>
            </a:r>
          </a:p>
        </p:txBody>
      </p:sp>
      <p:sp>
        <p:nvSpPr>
          <p:cNvPr id="86" name="TextBox 109">
            <a:extLst>
              <a:ext uri="{FF2B5EF4-FFF2-40B4-BE49-F238E27FC236}">
                <a16:creationId xmlns:a16="http://schemas.microsoft.com/office/drawing/2014/main" id="{53A9903A-6545-4DC9-9A39-CA631FD77263}"/>
              </a:ext>
            </a:extLst>
          </p:cNvPr>
          <p:cNvSpPr txBox="1"/>
          <p:nvPr/>
        </p:nvSpPr>
        <p:spPr>
          <a:xfrm>
            <a:off x="3600450" y="2900363"/>
            <a:ext cx="2192338" cy="2079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Vision &amp; Goal</a:t>
            </a:r>
          </a:p>
        </p:txBody>
      </p:sp>
      <p:sp>
        <p:nvSpPr>
          <p:cNvPr id="87" name="TextBox 110">
            <a:extLst>
              <a:ext uri="{FF2B5EF4-FFF2-40B4-BE49-F238E27FC236}">
                <a16:creationId xmlns:a16="http://schemas.microsoft.com/office/drawing/2014/main" id="{0B1422B6-31AA-4E70-B433-5A8C74B95C9B}"/>
              </a:ext>
            </a:extLst>
          </p:cNvPr>
          <p:cNvSpPr txBox="1"/>
          <p:nvPr/>
        </p:nvSpPr>
        <p:spPr>
          <a:xfrm>
            <a:off x="3600450" y="3209925"/>
            <a:ext cx="2192338" cy="500063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Live environmental data &amp; station concept.</a:t>
            </a:r>
          </a:p>
        </p:txBody>
      </p:sp>
      <p:sp>
        <p:nvSpPr>
          <p:cNvPr id="88" name="Rounded 111">
            <a:extLst>
              <a:ext uri="{FF2B5EF4-FFF2-40B4-BE49-F238E27FC236}">
                <a16:creationId xmlns:a16="http://schemas.microsoft.com/office/drawing/2014/main" id="{27943219-B7F7-4D72-8FFA-575643B4BB79}"/>
              </a:ext>
            </a:extLst>
          </p:cNvPr>
          <p:cNvSpPr/>
          <p:nvPr/>
        </p:nvSpPr>
        <p:spPr>
          <a:xfrm>
            <a:off x="6210300" y="2000250"/>
            <a:ext cx="2571750" cy="190023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9" name="Rectangle 112">
            <a:extLst>
              <a:ext uri="{FF2B5EF4-FFF2-40B4-BE49-F238E27FC236}">
                <a16:creationId xmlns:a16="http://schemas.microsoft.com/office/drawing/2014/main" id="{C40D4204-F80C-45FF-A1E3-8DD957DE9643}"/>
              </a:ext>
            </a:extLst>
          </p:cNvPr>
          <p:cNvSpPr/>
          <p:nvPr/>
        </p:nvSpPr>
        <p:spPr>
          <a:xfrm>
            <a:off x="6210300" y="2000250"/>
            <a:ext cx="38100" cy="190023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94" name="TextBox 113">
            <a:extLst>
              <a:ext uri="{FF2B5EF4-FFF2-40B4-BE49-F238E27FC236}">
                <a16:creationId xmlns:a16="http://schemas.microsoft.com/office/drawing/2014/main" id="{ED5DF375-759F-4B38-B775-96494A4D7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230438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03</a:t>
            </a:r>
          </a:p>
        </p:txBody>
      </p:sp>
      <p:sp>
        <p:nvSpPr>
          <p:cNvPr id="91" name="TextBox 114">
            <a:extLst>
              <a:ext uri="{FF2B5EF4-FFF2-40B4-BE49-F238E27FC236}">
                <a16:creationId xmlns:a16="http://schemas.microsoft.com/office/drawing/2014/main" id="{654963A2-C11C-44CC-924C-4F3A11D2C607}"/>
              </a:ext>
            </a:extLst>
          </p:cNvPr>
          <p:cNvSpPr txBox="1"/>
          <p:nvPr/>
        </p:nvSpPr>
        <p:spPr>
          <a:xfrm>
            <a:off x="6400800" y="2900363"/>
            <a:ext cx="2192338" cy="2079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Architecture</a:t>
            </a:r>
          </a:p>
        </p:txBody>
      </p:sp>
      <p:sp>
        <p:nvSpPr>
          <p:cNvPr id="92" name="TextBox 115">
            <a:extLst>
              <a:ext uri="{FF2B5EF4-FFF2-40B4-BE49-F238E27FC236}">
                <a16:creationId xmlns:a16="http://schemas.microsoft.com/office/drawing/2014/main" id="{A49B085F-8562-467E-819F-10EC2138A7B9}"/>
              </a:ext>
            </a:extLst>
          </p:cNvPr>
          <p:cNvSpPr txBox="1"/>
          <p:nvPr/>
        </p:nvSpPr>
        <p:spPr>
          <a:xfrm>
            <a:off x="6400800" y="3209925"/>
            <a:ext cx="2192338" cy="500063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Data flow from BME680 sensor to touch GUI.</a:t>
            </a:r>
          </a:p>
        </p:txBody>
      </p:sp>
      <p:sp>
        <p:nvSpPr>
          <p:cNvPr id="93" name="Rounded 116">
            <a:extLst>
              <a:ext uri="{FF2B5EF4-FFF2-40B4-BE49-F238E27FC236}">
                <a16:creationId xmlns:a16="http://schemas.microsoft.com/office/drawing/2014/main" id="{9CE523F3-AD0F-426A-B782-2F47AB4A5E88}"/>
              </a:ext>
            </a:extLst>
          </p:cNvPr>
          <p:cNvSpPr/>
          <p:nvPr/>
        </p:nvSpPr>
        <p:spPr>
          <a:xfrm>
            <a:off x="9010650" y="2000250"/>
            <a:ext cx="2571750" cy="190023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4" name="Rectangle 117">
            <a:extLst>
              <a:ext uri="{FF2B5EF4-FFF2-40B4-BE49-F238E27FC236}">
                <a16:creationId xmlns:a16="http://schemas.microsoft.com/office/drawing/2014/main" id="{CB0F59F0-EECA-42F3-8661-0D6EDF518EC8}"/>
              </a:ext>
            </a:extLst>
          </p:cNvPr>
          <p:cNvSpPr/>
          <p:nvPr/>
        </p:nvSpPr>
        <p:spPr>
          <a:xfrm>
            <a:off x="9010650" y="2000250"/>
            <a:ext cx="38100" cy="190023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99" name="TextBox 118">
            <a:extLst>
              <a:ext uri="{FF2B5EF4-FFF2-40B4-BE49-F238E27FC236}">
                <a16:creationId xmlns:a16="http://schemas.microsoft.com/office/drawing/2014/main" id="{72E4EFBA-6B50-4754-97EF-208F00DBB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0" y="2230438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04</a:t>
            </a:r>
          </a:p>
        </p:txBody>
      </p:sp>
      <p:sp>
        <p:nvSpPr>
          <p:cNvPr id="96" name="TextBox 119">
            <a:extLst>
              <a:ext uri="{FF2B5EF4-FFF2-40B4-BE49-F238E27FC236}">
                <a16:creationId xmlns:a16="http://schemas.microsoft.com/office/drawing/2014/main" id="{23A80F05-B202-45E9-AA18-81BD18A02844}"/>
              </a:ext>
            </a:extLst>
          </p:cNvPr>
          <p:cNvSpPr txBox="1"/>
          <p:nvPr/>
        </p:nvSpPr>
        <p:spPr>
          <a:xfrm>
            <a:off x="9201150" y="2900363"/>
            <a:ext cx="2192338" cy="2079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Outlook</a:t>
            </a:r>
          </a:p>
        </p:txBody>
      </p:sp>
      <p:sp>
        <p:nvSpPr>
          <p:cNvPr id="97" name="TextBox 120">
            <a:extLst>
              <a:ext uri="{FF2B5EF4-FFF2-40B4-BE49-F238E27FC236}">
                <a16:creationId xmlns:a16="http://schemas.microsoft.com/office/drawing/2014/main" id="{9BBB0237-7F69-4FFD-ABC9-D1BA228F408E}"/>
              </a:ext>
            </a:extLst>
          </p:cNvPr>
          <p:cNvSpPr txBox="1"/>
          <p:nvPr/>
        </p:nvSpPr>
        <p:spPr>
          <a:xfrm>
            <a:off x="9201150" y="3209925"/>
            <a:ext cx="2192338" cy="500063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Telegram alerts, LED feedback &amp; smart home.</a:t>
            </a:r>
          </a:p>
        </p:txBody>
      </p:sp>
      <p:sp>
        <p:nvSpPr>
          <p:cNvPr id="98" name="Rounded 121">
            <a:extLst>
              <a:ext uri="{FF2B5EF4-FFF2-40B4-BE49-F238E27FC236}">
                <a16:creationId xmlns:a16="http://schemas.microsoft.com/office/drawing/2014/main" id="{CF99C7F1-077A-4AFF-8D7E-DC51FAC77CBB}"/>
              </a:ext>
            </a:extLst>
          </p:cNvPr>
          <p:cNvSpPr/>
          <p:nvPr/>
        </p:nvSpPr>
        <p:spPr>
          <a:xfrm>
            <a:off x="609600" y="4129088"/>
            <a:ext cx="2571750" cy="1900237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9" name="Rectangle 122">
            <a:extLst>
              <a:ext uri="{FF2B5EF4-FFF2-40B4-BE49-F238E27FC236}">
                <a16:creationId xmlns:a16="http://schemas.microsoft.com/office/drawing/2014/main" id="{9DE766C6-6E6A-47FF-8091-9A1588432ED8}"/>
              </a:ext>
            </a:extLst>
          </p:cNvPr>
          <p:cNvSpPr/>
          <p:nvPr/>
        </p:nvSpPr>
        <p:spPr>
          <a:xfrm>
            <a:off x="609600" y="4129088"/>
            <a:ext cx="38100" cy="190023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104" name="TextBox 123">
            <a:extLst>
              <a:ext uri="{FF2B5EF4-FFF2-40B4-BE49-F238E27FC236}">
                <a16:creationId xmlns:a16="http://schemas.microsoft.com/office/drawing/2014/main" id="{08DF832E-42EB-4A4E-8318-BFB58AA4F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4359275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05</a:t>
            </a:r>
          </a:p>
        </p:txBody>
      </p:sp>
      <p:sp>
        <p:nvSpPr>
          <p:cNvPr id="101" name="TextBox 124">
            <a:extLst>
              <a:ext uri="{FF2B5EF4-FFF2-40B4-BE49-F238E27FC236}">
                <a16:creationId xmlns:a16="http://schemas.microsoft.com/office/drawing/2014/main" id="{D57F62C1-BAD5-467F-B872-09BE48C5683B}"/>
              </a:ext>
            </a:extLst>
          </p:cNvPr>
          <p:cNvSpPr txBox="1"/>
          <p:nvPr/>
        </p:nvSpPr>
        <p:spPr>
          <a:xfrm>
            <a:off x="800100" y="5029200"/>
            <a:ext cx="2192338" cy="20637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102" name="TextBox 125">
            <a:extLst>
              <a:ext uri="{FF2B5EF4-FFF2-40B4-BE49-F238E27FC236}">
                <a16:creationId xmlns:a16="http://schemas.microsoft.com/office/drawing/2014/main" id="{16606138-7F77-460D-ABC2-85BB5E2749D2}"/>
              </a:ext>
            </a:extLst>
          </p:cNvPr>
          <p:cNvSpPr txBox="1"/>
          <p:nvPr/>
        </p:nvSpPr>
        <p:spPr>
          <a:xfrm>
            <a:off x="800100" y="5338763"/>
            <a:ext cx="2192338" cy="5000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Mandatory (MUST) and optional (CAN) features.</a:t>
            </a:r>
          </a:p>
        </p:txBody>
      </p:sp>
      <p:sp>
        <p:nvSpPr>
          <p:cNvPr id="103" name="Rounded 126">
            <a:extLst>
              <a:ext uri="{FF2B5EF4-FFF2-40B4-BE49-F238E27FC236}">
                <a16:creationId xmlns:a16="http://schemas.microsoft.com/office/drawing/2014/main" id="{0602424E-9117-45BB-AF82-D368F209EF3D}"/>
              </a:ext>
            </a:extLst>
          </p:cNvPr>
          <p:cNvSpPr/>
          <p:nvPr/>
        </p:nvSpPr>
        <p:spPr>
          <a:xfrm>
            <a:off x="3409950" y="4129088"/>
            <a:ext cx="2571750" cy="1900237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4" name="Rectangle 127">
            <a:extLst>
              <a:ext uri="{FF2B5EF4-FFF2-40B4-BE49-F238E27FC236}">
                <a16:creationId xmlns:a16="http://schemas.microsoft.com/office/drawing/2014/main" id="{A08C0F4B-162B-4537-ABC2-11F3BF5FAFF6}"/>
              </a:ext>
            </a:extLst>
          </p:cNvPr>
          <p:cNvSpPr/>
          <p:nvPr/>
        </p:nvSpPr>
        <p:spPr>
          <a:xfrm>
            <a:off x="3409950" y="4129088"/>
            <a:ext cx="38100" cy="190023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109" name="TextBox 128">
            <a:extLst>
              <a:ext uri="{FF2B5EF4-FFF2-40B4-BE49-F238E27FC236}">
                <a16:creationId xmlns:a16="http://schemas.microsoft.com/office/drawing/2014/main" id="{3D8C0704-9934-40EE-B652-F13AC4754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4359275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06</a:t>
            </a:r>
          </a:p>
        </p:txBody>
      </p:sp>
      <p:sp>
        <p:nvSpPr>
          <p:cNvPr id="106" name="TextBox 129">
            <a:extLst>
              <a:ext uri="{FF2B5EF4-FFF2-40B4-BE49-F238E27FC236}">
                <a16:creationId xmlns:a16="http://schemas.microsoft.com/office/drawing/2014/main" id="{E86E82C6-B4A5-46B6-9A97-04510463BC92}"/>
              </a:ext>
            </a:extLst>
          </p:cNvPr>
          <p:cNvSpPr txBox="1"/>
          <p:nvPr/>
        </p:nvSpPr>
        <p:spPr>
          <a:xfrm>
            <a:off x="3600450" y="5029200"/>
            <a:ext cx="2192338" cy="20637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Equipment</a:t>
            </a:r>
          </a:p>
        </p:txBody>
      </p:sp>
      <p:sp>
        <p:nvSpPr>
          <p:cNvPr id="107" name="TextBox 130">
            <a:extLst>
              <a:ext uri="{FF2B5EF4-FFF2-40B4-BE49-F238E27FC236}">
                <a16:creationId xmlns:a16="http://schemas.microsoft.com/office/drawing/2014/main" id="{66B15CB4-1714-44AD-A5F3-004B03D0FEB2}"/>
              </a:ext>
            </a:extLst>
          </p:cNvPr>
          <p:cNvSpPr txBox="1"/>
          <p:nvPr/>
        </p:nvSpPr>
        <p:spPr>
          <a:xfrm>
            <a:off x="3600450" y="5338763"/>
            <a:ext cx="2192338" cy="5000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Raspberry Pi, sensor, display &amp; storage.</a:t>
            </a:r>
          </a:p>
        </p:txBody>
      </p:sp>
      <p:sp>
        <p:nvSpPr>
          <p:cNvPr id="108" name="Rounded 131">
            <a:extLst>
              <a:ext uri="{FF2B5EF4-FFF2-40B4-BE49-F238E27FC236}">
                <a16:creationId xmlns:a16="http://schemas.microsoft.com/office/drawing/2014/main" id="{5407E14B-0F76-461E-BAD2-B0D6E3AC516F}"/>
              </a:ext>
            </a:extLst>
          </p:cNvPr>
          <p:cNvSpPr/>
          <p:nvPr/>
        </p:nvSpPr>
        <p:spPr>
          <a:xfrm>
            <a:off x="6210300" y="4129088"/>
            <a:ext cx="2571750" cy="1900237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9" name="Rectangle 132">
            <a:extLst>
              <a:ext uri="{FF2B5EF4-FFF2-40B4-BE49-F238E27FC236}">
                <a16:creationId xmlns:a16="http://schemas.microsoft.com/office/drawing/2014/main" id="{4143E2AF-7CFE-461C-A45B-79EC00192B28}"/>
              </a:ext>
            </a:extLst>
          </p:cNvPr>
          <p:cNvSpPr/>
          <p:nvPr/>
        </p:nvSpPr>
        <p:spPr>
          <a:xfrm>
            <a:off x="6210300" y="4129088"/>
            <a:ext cx="38100" cy="190023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114" name="TextBox 133">
            <a:extLst>
              <a:ext uri="{FF2B5EF4-FFF2-40B4-BE49-F238E27FC236}">
                <a16:creationId xmlns:a16="http://schemas.microsoft.com/office/drawing/2014/main" id="{C85858CB-979E-48F9-B40A-AF3E9295D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359275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07</a:t>
            </a:r>
          </a:p>
        </p:txBody>
      </p:sp>
      <p:sp>
        <p:nvSpPr>
          <p:cNvPr id="111" name="TextBox 134">
            <a:extLst>
              <a:ext uri="{FF2B5EF4-FFF2-40B4-BE49-F238E27FC236}">
                <a16:creationId xmlns:a16="http://schemas.microsoft.com/office/drawing/2014/main" id="{7A6F2CD4-0899-4885-A999-B854BCDE78E0}"/>
              </a:ext>
            </a:extLst>
          </p:cNvPr>
          <p:cNvSpPr txBox="1"/>
          <p:nvPr/>
        </p:nvSpPr>
        <p:spPr>
          <a:xfrm>
            <a:off x="6400800" y="5029200"/>
            <a:ext cx="2192338" cy="20637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Our Plan</a:t>
            </a:r>
          </a:p>
        </p:txBody>
      </p:sp>
      <p:sp>
        <p:nvSpPr>
          <p:cNvPr id="112" name="TextBox 135">
            <a:extLst>
              <a:ext uri="{FF2B5EF4-FFF2-40B4-BE49-F238E27FC236}">
                <a16:creationId xmlns:a16="http://schemas.microsoft.com/office/drawing/2014/main" id="{6CA5EB1C-8391-441F-AC56-88D4C7FD3394}"/>
              </a:ext>
            </a:extLst>
          </p:cNvPr>
          <p:cNvSpPr txBox="1"/>
          <p:nvPr/>
        </p:nvSpPr>
        <p:spPr>
          <a:xfrm>
            <a:off x="6400800" y="5338763"/>
            <a:ext cx="2192338" cy="5000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Organigram, CPM plan, protocols &amp; time tracking.</a:t>
            </a:r>
          </a:p>
        </p:txBody>
      </p:sp>
      <p:sp>
        <p:nvSpPr>
          <p:cNvPr id="113" name="Rounded 136">
            <a:extLst>
              <a:ext uri="{FF2B5EF4-FFF2-40B4-BE49-F238E27FC236}">
                <a16:creationId xmlns:a16="http://schemas.microsoft.com/office/drawing/2014/main" id="{2D93D4D7-0DD8-4376-B735-4AF3B641B01A}"/>
              </a:ext>
            </a:extLst>
          </p:cNvPr>
          <p:cNvSpPr/>
          <p:nvPr/>
        </p:nvSpPr>
        <p:spPr>
          <a:xfrm>
            <a:off x="9010650" y="4129088"/>
            <a:ext cx="2571750" cy="1900237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4" name="Rectangle 137">
            <a:extLst>
              <a:ext uri="{FF2B5EF4-FFF2-40B4-BE49-F238E27FC236}">
                <a16:creationId xmlns:a16="http://schemas.microsoft.com/office/drawing/2014/main" id="{E70F00C8-E755-468D-B74C-F0DF5E3AFE57}"/>
              </a:ext>
            </a:extLst>
          </p:cNvPr>
          <p:cNvSpPr/>
          <p:nvPr/>
        </p:nvSpPr>
        <p:spPr>
          <a:xfrm>
            <a:off x="9010650" y="4129088"/>
            <a:ext cx="38100" cy="190023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119" name="TextBox 138">
            <a:extLst>
              <a:ext uri="{FF2B5EF4-FFF2-40B4-BE49-F238E27FC236}">
                <a16:creationId xmlns:a16="http://schemas.microsoft.com/office/drawing/2014/main" id="{0A1B3A1C-2984-41AE-8927-71D0111D7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150" y="4359275"/>
            <a:ext cx="2192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2400" b="1">
                <a:solidFill>
                  <a:srgbClr val="EF4444"/>
                </a:solidFill>
                <a:latin typeface="Montserrat" panose="00000500000000000000" pitchFamily="2" charset="0"/>
              </a:rPr>
              <a:t>08</a:t>
            </a:r>
          </a:p>
        </p:txBody>
      </p:sp>
      <p:sp>
        <p:nvSpPr>
          <p:cNvPr id="116" name="TextBox 139">
            <a:extLst>
              <a:ext uri="{FF2B5EF4-FFF2-40B4-BE49-F238E27FC236}">
                <a16:creationId xmlns:a16="http://schemas.microsoft.com/office/drawing/2014/main" id="{C947FB7E-7B51-4725-8FD6-0990AFCD2E4C}"/>
              </a:ext>
            </a:extLst>
          </p:cNvPr>
          <p:cNvSpPr txBox="1"/>
          <p:nvPr/>
        </p:nvSpPr>
        <p:spPr>
          <a:xfrm>
            <a:off x="9201150" y="5029200"/>
            <a:ext cx="2192338" cy="20637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Timeline</a:t>
            </a:r>
          </a:p>
        </p:txBody>
      </p:sp>
      <p:sp>
        <p:nvSpPr>
          <p:cNvPr id="117" name="TextBox 140">
            <a:extLst>
              <a:ext uri="{FF2B5EF4-FFF2-40B4-BE49-F238E27FC236}">
                <a16:creationId xmlns:a16="http://schemas.microsoft.com/office/drawing/2014/main" id="{8F740A6C-6E4A-475C-B8EF-A034E6552067}"/>
              </a:ext>
            </a:extLst>
          </p:cNvPr>
          <p:cNvSpPr txBox="1"/>
          <p:nvPr/>
        </p:nvSpPr>
        <p:spPr>
          <a:xfrm>
            <a:off x="9201150" y="5338763"/>
            <a:ext cx="2192338" cy="50006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Project roadmap &amp; milestones.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rafik 64">
            <a:extLst>
              <a:ext uri="{FF2B5EF4-FFF2-40B4-BE49-F238E27FC236}">
                <a16:creationId xmlns:a16="http://schemas.microsoft.com/office/drawing/2014/main" id="{A575E090-BFFF-42BF-B4B9-ECDD8B2D8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838" y="2178050"/>
            <a:ext cx="1449387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Grafik 62">
            <a:extLst>
              <a:ext uri="{FF2B5EF4-FFF2-40B4-BE49-F238E27FC236}">
                <a16:creationId xmlns:a16="http://schemas.microsoft.com/office/drawing/2014/main" id="{7536C7BF-A747-425E-BF42-7643375CA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675" y="1517650"/>
            <a:ext cx="1576388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Grafik 60">
            <a:extLst>
              <a:ext uri="{FF2B5EF4-FFF2-40B4-BE49-F238E27FC236}">
                <a16:creationId xmlns:a16="http://schemas.microsoft.com/office/drawing/2014/main" id="{4FC804AE-9B3B-480E-B247-CC07BF1E4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575" y="2138363"/>
            <a:ext cx="1974850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Grafik 39">
            <a:extLst>
              <a:ext uri="{FF2B5EF4-FFF2-40B4-BE49-F238E27FC236}">
                <a16:creationId xmlns:a16="http://schemas.microsoft.com/office/drawing/2014/main" id="{9DEACE46-739F-44A2-8DA8-91EF71D94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388" y="2265363"/>
            <a:ext cx="1285875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8">
            <a:extLst>
              <a:ext uri="{FF2B5EF4-FFF2-40B4-BE49-F238E27FC236}">
                <a16:creationId xmlns:a16="http://schemas.microsoft.com/office/drawing/2014/main" id="{2003224B-6DBD-4F18-9963-81717C9E9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2281238"/>
            <a:ext cx="1285875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9CBA49-6D11-462E-B5A3-3C198DEB685F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88702-A383-4FF3-90CD-CEE19C097B0C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229109D6-78AD-440C-906F-663389DA3BA3}"/>
              </a:ext>
            </a:extLst>
          </p:cNvPr>
          <p:cNvSpPr/>
          <p:nvPr/>
        </p:nvSpPr>
        <p:spPr>
          <a:xfrm>
            <a:off x="609600" y="1936750"/>
            <a:ext cx="2073275" cy="2913063"/>
          </a:xfrm>
          <a:custGeom>
            <a:avLst/>
            <a:gdLst>
              <a:gd name="connsiteX0" fmla="*/ 1037764 w 2072580"/>
              <a:gd name="connsiteY0" fmla="*/ 424866 h 2912715"/>
              <a:gd name="connsiteX1" fmla="*/ 393455 w 2072580"/>
              <a:gd name="connsiteY1" fmla="*/ 1032557 h 2912715"/>
              <a:gd name="connsiteX2" fmla="*/ 1037764 w 2072580"/>
              <a:gd name="connsiteY2" fmla="*/ 1640248 h 2912715"/>
              <a:gd name="connsiteX3" fmla="*/ 1682073 w 2072580"/>
              <a:gd name="connsiteY3" fmla="*/ 1032557 h 2912715"/>
              <a:gd name="connsiteX4" fmla="*/ 1037764 w 2072580"/>
              <a:gd name="connsiteY4" fmla="*/ 424866 h 2912715"/>
              <a:gd name="connsiteX5" fmla="*/ 138158 w 2072580"/>
              <a:gd name="connsiteY5" fmla="*/ 0 h 2912715"/>
              <a:gd name="connsiteX6" fmla="*/ 1934422 w 2072580"/>
              <a:gd name="connsiteY6" fmla="*/ 0 h 2912715"/>
              <a:gd name="connsiteX7" fmla="*/ 2072580 w 2072580"/>
              <a:gd name="connsiteY7" fmla="*/ 138158 h 2912715"/>
              <a:gd name="connsiteX8" fmla="*/ 2072580 w 2072580"/>
              <a:gd name="connsiteY8" fmla="*/ 2774557 h 2912715"/>
              <a:gd name="connsiteX9" fmla="*/ 1934422 w 2072580"/>
              <a:gd name="connsiteY9" fmla="*/ 2912715 h 2912715"/>
              <a:gd name="connsiteX10" fmla="*/ 138158 w 2072580"/>
              <a:gd name="connsiteY10" fmla="*/ 2912715 h 2912715"/>
              <a:gd name="connsiteX11" fmla="*/ 0 w 2072580"/>
              <a:gd name="connsiteY11" fmla="*/ 2774557 h 2912715"/>
              <a:gd name="connsiteX12" fmla="*/ 0 w 2072580"/>
              <a:gd name="connsiteY12" fmla="*/ 138158 h 2912715"/>
              <a:gd name="connsiteX13" fmla="*/ 138158 w 2072580"/>
              <a:gd name="connsiteY13" fmla="*/ 0 h 291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72580" h="2912715">
                <a:moveTo>
                  <a:pt x="1037764" y="424866"/>
                </a:moveTo>
                <a:cubicBezTo>
                  <a:pt x="681922" y="424866"/>
                  <a:pt x="393455" y="696939"/>
                  <a:pt x="393455" y="1032557"/>
                </a:cubicBezTo>
                <a:cubicBezTo>
                  <a:pt x="393455" y="1368175"/>
                  <a:pt x="681922" y="1640248"/>
                  <a:pt x="1037764" y="1640248"/>
                </a:cubicBezTo>
                <a:cubicBezTo>
                  <a:pt x="1393606" y="1640248"/>
                  <a:pt x="1682073" y="1368175"/>
                  <a:pt x="1682073" y="1032557"/>
                </a:cubicBezTo>
                <a:cubicBezTo>
                  <a:pt x="1682073" y="696939"/>
                  <a:pt x="1393606" y="424866"/>
                  <a:pt x="1037764" y="424866"/>
                </a:cubicBezTo>
                <a:close/>
                <a:moveTo>
                  <a:pt x="138158" y="0"/>
                </a:moveTo>
                <a:lnTo>
                  <a:pt x="1934422" y="0"/>
                </a:lnTo>
                <a:cubicBezTo>
                  <a:pt x="2010725" y="0"/>
                  <a:pt x="2072580" y="61855"/>
                  <a:pt x="2072580" y="138158"/>
                </a:cubicBezTo>
                <a:lnTo>
                  <a:pt x="2072580" y="2774557"/>
                </a:lnTo>
                <a:cubicBezTo>
                  <a:pt x="2072580" y="2850860"/>
                  <a:pt x="2010725" y="2912715"/>
                  <a:pt x="1934422" y="2912715"/>
                </a:cubicBezTo>
                <a:lnTo>
                  <a:pt x="138158" y="2912715"/>
                </a:lnTo>
                <a:cubicBezTo>
                  <a:pt x="61855" y="2912715"/>
                  <a:pt x="0" y="2850860"/>
                  <a:pt x="0" y="2774557"/>
                </a:cubicBezTo>
                <a:lnTo>
                  <a:pt x="0" y="138158"/>
                </a:lnTo>
                <a:cubicBezTo>
                  <a:pt x="0" y="61855"/>
                  <a:pt x="61855" y="0"/>
                  <a:pt x="138158" y="0"/>
                </a:cubicBezTo>
                <a:close/>
              </a:path>
            </a:pathLst>
          </a:cu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BF4D39C6-8E57-4EC5-8EE5-AA3DD2060E0B}"/>
              </a:ext>
            </a:extLst>
          </p:cNvPr>
          <p:cNvSpPr/>
          <p:nvPr/>
        </p:nvSpPr>
        <p:spPr>
          <a:xfrm>
            <a:off x="2835275" y="1936750"/>
            <a:ext cx="2071688" cy="2913063"/>
          </a:xfrm>
          <a:custGeom>
            <a:avLst/>
            <a:gdLst>
              <a:gd name="connsiteX0" fmla="*/ 1037102 w 2072580"/>
              <a:gd name="connsiteY0" fmla="*/ 424866 h 2912715"/>
              <a:gd name="connsiteX1" fmla="*/ 392793 w 2072580"/>
              <a:gd name="connsiteY1" fmla="*/ 1032557 h 2912715"/>
              <a:gd name="connsiteX2" fmla="*/ 1037102 w 2072580"/>
              <a:gd name="connsiteY2" fmla="*/ 1640248 h 2912715"/>
              <a:gd name="connsiteX3" fmla="*/ 1681411 w 2072580"/>
              <a:gd name="connsiteY3" fmla="*/ 1032557 h 2912715"/>
              <a:gd name="connsiteX4" fmla="*/ 1037102 w 2072580"/>
              <a:gd name="connsiteY4" fmla="*/ 424866 h 2912715"/>
              <a:gd name="connsiteX5" fmla="*/ 138158 w 2072580"/>
              <a:gd name="connsiteY5" fmla="*/ 0 h 2912715"/>
              <a:gd name="connsiteX6" fmla="*/ 1934422 w 2072580"/>
              <a:gd name="connsiteY6" fmla="*/ 0 h 2912715"/>
              <a:gd name="connsiteX7" fmla="*/ 2072580 w 2072580"/>
              <a:gd name="connsiteY7" fmla="*/ 138158 h 2912715"/>
              <a:gd name="connsiteX8" fmla="*/ 2072580 w 2072580"/>
              <a:gd name="connsiteY8" fmla="*/ 2774557 h 2912715"/>
              <a:gd name="connsiteX9" fmla="*/ 1934422 w 2072580"/>
              <a:gd name="connsiteY9" fmla="*/ 2912715 h 2912715"/>
              <a:gd name="connsiteX10" fmla="*/ 138158 w 2072580"/>
              <a:gd name="connsiteY10" fmla="*/ 2912715 h 2912715"/>
              <a:gd name="connsiteX11" fmla="*/ 0 w 2072580"/>
              <a:gd name="connsiteY11" fmla="*/ 2774557 h 2912715"/>
              <a:gd name="connsiteX12" fmla="*/ 0 w 2072580"/>
              <a:gd name="connsiteY12" fmla="*/ 138158 h 2912715"/>
              <a:gd name="connsiteX13" fmla="*/ 138158 w 2072580"/>
              <a:gd name="connsiteY13" fmla="*/ 0 h 291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72580" h="2912715">
                <a:moveTo>
                  <a:pt x="1037102" y="424866"/>
                </a:moveTo>
                <a:cubicBezTo>
                  <a:pt x="681260" y="424866"/>
                  <a:pt x="392793" y="696939"/>
                  <a:pt x="392793" y="1032557"/>
                </a:cubicBezTo>
                <a:cubicBezTo>
                  <a:pt x="392793" y="1368175"/>
                  <a:pt x="681260" y="1640248"/>
                  <a:pt x="1037102" y="1640248"/>
                </a:cubicBezTo>
                <a:cubicBezTo>
                  <a:pt x="1392944" y="1640248"/>
                  <a:pt x="1681411" y="1368175"/>
                  <a:pt x="1681411" y="1032557"/>
                </a:cubicBezTo>
                <a:cubicBezTo>
                  <a:pt x="1681411" y="696939"/>
                  <a:pt x="1392944" y="424866"/>
                  <a:pt x="1037102" y="424866"/>
                </a:cubicBezTo>
                <a:close/>
                <a:moveTo>
                  <a:pt x="138158" y="0"/>
                </a:moveTo>
                <a:lnTo>
                  <a:pt x="1934422" y="0"/>
                </a:lnTo>
                <a:cubicBezTo>
                  <a:pt x="2010725" y="0"/>
                  <a:pt x="2072580" y="61855"/>
                  <a:pt x="2072580" y="138158"/>
                </a:cubicBezTo>
                <a:lnTo>
                  <a:pt x="2072580" y="2774557"/>
                </a:lnTo>
                <a:cubicBezTo>
                  <a:pt x="2072580" y="2850860"/>
                  <a:pt x="2010725" y="2912715"/>
                  <a:pt x="1934422" y="2912715"/>
                </a:cubicBezTo>
                <a:lnTo>
                  <a:pt x="138158" y="2912715"/>
                </a:lnTo>
                <a:cubicBezTo>
                  <a:pt x="61855" y="2912715"/>
                  <a:pt x="0" y="2850860"/>
                  <a:pt x="0" y="2774557"/>
                </a:cubicBezTo>
                <a:lnTo>
                  <a:pt x="0" y="138158"/>
                </a:lnTo>
                <a:cubicBezTo>
                  <a:pt x="0" y="61855"/>
                  <a:pt x="61855" y="0"/>
                  <a:pt x="138158" y="0"/>
                </a:cubicBezTo>
                <a:close/>
              </a:path>
            </a:pathLst>
          </a:cu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6867530-EAFB-42FF-9294-9AD2B8FE7486}"/>
              </a:ext>
            </a:extLst>
          </p:cNvPr>
          <p:cNvSpPr/>
          <p:nvPr/>
        </p:nvSpPr>
        <p:spPr>
          <a:xfrm>
            <a:off x="5059363" y="1936750"/>
            <a:ext cx="2073275" cy="2913063"/>
          </a:xfrm>
          <a:custGeom>
            <a:avLst/>
            <a:gdLst>
              <a:gd name="connsiteX0" fmla="*/ 1036440 w 2072580"/>
              <a:gd name="connsiteY0" fmla="*/ 424866 h 2912715"/>
              <a:gd name="connsiteX1" fmla="*/ 392131 w 2072580"/>
              <a:gd name="connsiteY1" fmla="*/ 1032557 h 2912715"/>
              <a:gd name="connsiteX2" fmla="*/ 1036440 w 2072580"/>
              <a:gd name="connsiteY2" fmla="*/ 1640248 h 2912715"/>
              <a:gd name="connsiteX3" fmla="*/ 1680749 w 2072580"/>
              <a:gd name="connsiteY3" fmla="*/ 1032557 h 2912715"/>
              <a:gd name="connsiteX4" fmla="*/ 1036440 w 2072580"/>
              <a:gd name="connsiteY4" fmla="*/ 424866 h 2912715"/>
              <a:gd name="connsiteX5" fmla="*/ 138158 w 2072580"/>
              <a:gd name="connsiteY5" fmla="*/ 0 h 2912715"/>
              <a:gd name="connsiteX6" fmla="*/ 1934422 w 2072580"/>
              <a:gd name="connsiteY6" fmla="*/ 0 h 2912715"/>
              <a:gd name="connsiteX7" fmla="*/ 2072580 w 2072580"/>
              <a:gd name="connsiteY7" fmla="*/ 138158 h 2912715"/>
              <a:gd name="connsiteX8" fmla="*/ 2072580 w 2072580"/>
              <a:gd name="connsiteY8" fmla="*/ 2774557 h 2912715"/>
              <a:gd name="connsiteX9" fmla="*/ 1934422 w 2072580"/>
              <a:gd name="connsiteY9" fmla="*/ 2912715 h 2912715"/>
              <a:gd name="connsiteX10" fmla="*/ 138158 w 2072580"/>
              <a:gd name="connsiteY10" fmla="*/ 2912715 h 2912715"/>
              <a:gd name="connsiteX11" fmla="*/ 0 w 2072580"/>
              <a:gd name="connsiteY11" fmla="*/ 2774557 h 2912715"/>
              <a:gd name="connsiteX12" fmla="*/ 0 w 2072580"/>
              <a:gd name="connsiteY12" fmla="*/ 138158 h 2912715"/>
              <a:gd name="connsiteX13" fmla="*/ 138158 w 2072580"/>
              <a:gd name="connsiteY13" fmla="*/ 0 h 291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72580" h="2912715">
                <a:moveTo>
                  <a:pt x="1036440" y="424866"/>
                </a:moveTo>
                <a:cubicBezTo>
                  <a:pt x="680598" y="424866"/>
                  <a:pt x="392131" y="696939"/>
                  <a:pt x="392131" y="1032557"/>
                </a:cubicBezTo>
                <a:cubicBezTo>
                  <a:pt x="392131" y="1368175"/>
                  <a:pt x="680598" y="1640248"/>
                  <a:pt x="1036440" y="1640248"/>
                </a:cubicBezTo>
                <a:cubicBezTo>
                  <a:pt x="1392282" y="1640248"/>
                  <a:pt x="1680749" y="1368175"/>
                  <a:pt x="1680749" y="1032557"/>
                </a:cubicBezTo>
                <a:cubicBezTo>
                  <a:pt x="1680749" y="696939"/>
                  <a:pt x="1392282" y="424866"/>
                  <a:pt x="1036440" y="424866"/>
                </a:cubicBezTo>
                <a:close/>
                <a:moveTo>
                  <a:pt x="138158" y="0"/>
                </a:moveTo>
                <a:lnTo>
                  <a:pt x="1934422" y="0"/>
                </a:lnTo>
                <a:cubicBezTo>
                  <a:pt x="2010725" y="0"/>
                  <a:pt x="2072580" y="61855"/>
                  <a:pt x="2072580" y="138158"/>
                </a:cubicBezTo>
                <a:lnTo>
                  <a:pt x="2072580" y="2774557"/>
                </a:lnTo>
                <a:cubicBezTo>
                  <a:pt x="2072580" y="2850860"/>
                  <a:pt x="2010725" y="2912715"/>
                  <a:pt x="1934422" y="2912715"/>
                </a:cubicBezTo>
                <a:lnTo>
                  <a:pt x="138158" y="2912715"/>
                </a:lnTo>
                <a:cubicBezTo>
                  <a:pt x="61855" y="2912715"/>
                  <a:pt x="0" y="2850860"/>
                  <a:pt x="0" y="2774557"/>
                </a:cubicBezTo>
                <a:lnTo>
                  <a:pt x="0" y="138158"/>
                </a:lnTo>
                <a:cubicBezTo>
                  <a:pt x="0" y="61855"/>
                  <a:pt x="61855" y="0"/>
                  <a:pt x="138158" y="0"/>
                </a:cubicBezTo>
                <a:close/>
              </a:path>
            </a:pathLst>
          </a:cu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9" name="Freihandform: Form 58">
            <a:extLst>
              <a:ext uri="{FF2B5EF4-FFF2-40B4-BE49-F238E27FC236}">
                <a16:creationId xmlns:a16="http://schemas.microsoft.com/office/drawing/2014/main" id="{FA699B2C-B7CB-4C6A-A5A4-2133E08891BA}"/>
              </a:ext>
            </a:extLst>
          </p:cNvPr>
          <p:cNvSpPr/>
          <p:nvPr/>
        </p:nvSpPr>
        <p:spPr>
          <a:xfrm>
            <a:off x="7285038" y="1936750"/>
            <a:ext cx="2071687" cy="2913063"/>
          </a:xfrm>
          <a:custGeom>
            <a:avLst/>
            <a:gdLst>
              <a:gd name="connsiteX0" fmla="*/ 1035777 w 2072580"/>
              <a:gd name="connsiteY0" fmla="*/ 424866 h 2912715"/>
              <a:gd name="connsiteX1" fmla="*/ 391468 w 2072580"/>
              <a:gd name="connsiteY1" fmla="*/ 1032557 h 2912715"/>
              <a:gd name="connsiteX2" fmla="*/ 1035777 w 2072580"/>
              <a:gd name="connsiteY2" fmla="*/ 1640248 h 2912715"/>
              <a:gd name="connsiteX3" fmla="*/ 1680086 w 2072580"/>
              <a:gd name="connsiteY3" fmla="*/ 1032557 h 2912715"/>
              <a:gd name="connsiteX4" fmla="*/ 1035777 w 2072580"/>
              <a:gd name="connsiteY4" fmla="*/ 424866 h 2912715"/>
              <a:gd name="connsiteX5" fmla="*/ 138158 w 2072580"/>
              <a:gd name="connsiteY5" fmla="*/ 0 h 2912715"/>
              <a:gd name="connsiteX6" fmla="*/ 1934422 w 2072580"/>
              <a:gd name="connsiteY6" fmla="*/ 0 h 2912715"/>
              <a:gd name="connsiteX7" fmla="*/ 2072580 w 2072580"/>
              <a:gd name="connsiteY7" fmla="*/ 138158 h 2912715"/>
              <a:gd name="connsiteX8" fmla="*/ 2072580 w 2072580"/>
              <a:gd name="connsiteY8" fmla="*/ 2774557 h 2912715"/>
              <a:gd name="connsiteX9" fmla="*/ 1934422 w 2072580"/>
              <a:gd name="connsiteY9" fmla="*/ 2912715 h 2912715"/>
              <a:gd name="connsiteX10" fmla="*/ 138158 w 2072580"/>
              <a:gd name="connsiteY10" fmla="*/ 2912715 h 2912715"/>
              <a:gd name="connsiteX11" fmla="*/ 0 w 2072580"/>
              <a:gd name="connsiteY11" fmla="*/ 2774557 h 2912715"/>
              <a:gd name="connsiteX12" fmla="*/ 0 w 2072580"/>
              <a:gd name="connsiteY12" fmla="*/ 138158 h 2912715"/>
              <a:gd name="connsiteX13" fmla="*/ 138158 w 2072580"/>
              <a:gd name="connsiteY13" fmla="*/ 0 h 291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72580" h="2912715">
                <a:moveTo>
                  <a:pt x="1035777" y="424866"/>
                </a:moveTo>
                <a:cubicBezTo>
                  <a:pt x="679935" y="424866"/>
                  <a:pt x="391468" y="696939"/>
                  <a:pt x="391468" y="1032557"/>
                </a:cubicBezTo>
                <a:cubicBezTo>
                  <a:pt x="391468" y="1368175"/>
                  <a:pt x="679935" y="1640248"/>
                  <a:pt x="1035777" y="1640248"/>
                </a:cubicBezTo>
                <a:cubicBezTo>
                  <a:pt x="1391619" y="1640248"/>
                  <a:pt x="1680086" y="1368175"/>
                  <a:pt x="1680086" y="1032557"/>
                </a:cubicBezTo>
                <a:cubicBezTo>
                  <a:pt x="1680086" y="696939"/>
                  <a:pt x="1391619" y="424866"/>
                  <a:pt x="1035777" y="424866"/>
                </a:cubicBezTo>
                <a:close/>
                <a:moveTo>
                  <a:pt x="138158" y="0"/>
                </a:moveTo>
                <a:lnTo>
                  <a:pt x="1934422" y="0"/>
                </a:lnTo>
                <a:cubicBezTo>
                  <a:pt x="2010725" y="0"/>
                  <a:pt x="2072580" y="61855"/>
                  <a:pt x="2072580" y="138158"/>
                </a:cubicBezTo>
                <a:lnTo>
                  <a:pt x="2072580" y="2774557"/>
                </a:lnTo>
                <a:cubicBezTo>
                  <a:pt x="2072580" y="2850860"/>
                  <a:pt x="2010725" y="2912715"/>
                  <a:pt x="1934422" y="2912715"/>
                </a:cubicBezTo>
                <a:lnTo>
                  <a:pt x="138158" y="2912715"/>
                </a:lnTo>
                <a:cubicBezTo>
                  <a:pt x="61855" y="2912715"/>
                  <a:pt x="0" y="2850860"/>
                  <a:pt x="0" y="2774557"/>
                </a:cubicBezTo>
                <a:lnTo>
                  <a:pt x="0" y="138158"/>
                </a:lnTo>
                <a:cubicBezTo>
                  <a:pt x="0" y="61855"/>
                  <a:pt x="61855" y="0"/>
                  <a:pt x="138158" y="0"/>
                </a:cubicBezTo>
                <a:close/>
              </a:path>
            </a:pathLst>
          </a:cu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EC0CF2E6-8F82-4AE1-AF55-EBA54274CF2E}"/>
              </a:ext>
            </a:extLst>
          </p:cNvPr>
          <p:cNvSpPr/>
          <p:nvPr/>
        </p:nvSpPr>
        <p:spPr>
          <a:xfrm>
            <a:off x="9509125" y="1936750"/>
            <a:ext cx="2073275" cy="2913063"/>
          </a:xfrm>
          <a:custGeom>
            <a:avLst/>
            <a:gdLst>
              <a:gd name="connsiteX0" fmla="*/ 1035116 w 2072580"/>
              <a:gd name="connsiteY0" fmla="*/ 424866 h 2912715"/>
              <a:gd name="connsiteX1" fmla="*/ 390807 w 2072580"/>
              <a:gd name="connsiteY1" fmla="*/ 1032557 h 2912715"/>
              <a:gd name="connsiteX2" fmla="*/ 1035116 w 2072580"/>
              <a:gd name="connsiteY2" fmla="*/ 1640248 h 2912715"/>
              <a:gd name="connsiteX3" fmla="*/ 1679425 w 2072580"/>
              <a:gd name="connsiteY3" fmla="*/ 1032557 h 2912715"/>
              <a:gd name="connsiteX4" fmla="*/ 1035116 w 2072580"/>
              <a:gd name="connsiteY4" fmla="*/ 424866 h 2912715"/>
              <a:gd name="connsiteX5" fmla="*/ 138158 w 2072580"/>
              <a:gd name="connsiteY5" fmla="*/ 0 h 2912715"/>
              <a:gd name="connsiteX6" fmla="*/ 1934422 w 2072580"/>
              <a:gd name="connsiteY6" fmla="*/ 0 h 2912715"/>
              <a:gd name="connsiteX7" fmla="*/ 2072580 w 2072580"/>
              <a:gd name="connsiteY7" fmla="*/ 138158 h 2912715"/>
              <a:gd name="connsiteX8" fmla="*/ 2072580 w 2072580"/>
              <a:gd name="connsiteY8" fmla="*/ 2774557 h 2912715"/>
              <a:gd name="connsiteX9" fmla="*/ 1934422 w 2072580"/>
              <a:gd name="connsiteY9" fmla="*/ 2912715 h 2912715"/>
              <a:gd name="connsiteX10" fmla="*/ 138158 w 2072580"/>
              <a:gd name="connsiteY10" fmla="*/ 2912715 h 2912715"/>
              <a:gd name="connsiteX11" fmla="*/ 0 w 2072580"/>
              <a:gd name="connsiteY11" fmla="*/ 2774557 h 2912715"/>
              <a:gd name="connsiteX12" fmla="*/ 0 w 2072580"/>
              <a:gd name="connsiteY12" fmla="*/ 138158 h 2912715"/>
              <a:gd name="connsiteX13" fmla="*/ 138158 w 2072580"/>
              <a:gd name="connsiteY13" fmla="*/ 0 h 291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72580" h="2912715">
                <a:moveTo>
                  <a:pt x="1035116" y="424866"/>
                </a:moveTo>
                <a:cubicBezTo>
                  <a:pt x="679274" y="424866"/>
                  <a:pt x="390807" y="696939"/>
                  <a:pt x="390807" y="1032557"/>
                </a:cubicBezTo>
                <a:cubicBezTo>
                  <a:pt x="390807" y="1368175"/>
                  <a:pt x="679274" y="1640248"/>
                  <a:pt x="1035116" y="1640248"/>
                </a:cubicBezTo>
                <a:cubicBezTo>
                  <a:pt x="1390958" y="1640248"/>
                  <a:pt x="1679425" y="1368175"/>
                  <a:pt x="1679425" y="1032557"/>
                </a:cubicBezTo>
                <a:cubicBezTo>
                  <a:pt x="1679425" y="696939"/>
                  <a:pt x="1390958" y="424866"/>
                  <a:pt x="1035116" y="424866"/>
                </a:cubicBezTo>
                <a:close/>
                <a:moveTo>
                  <a:pt x="138158" y="0"/>
                </a:moveTo>
                <a:lnTo>
                  <a:pt x="1934422" y="0"/>
                </a:lnTo>
                <a:cubicBezTo>
                  <a:pt x="2010725" y="0"/>
                  <a:pt x="2072580" y="61855"/>
                  <a:pt x="2072580" y="138158"/>
                </a:cubicBezTo>
                <a:lnTo>
                  <a:pt x="2072580" y="2774557"/>
                </a:lnTo>
                <a:cubicBezTo>
                  <a:pt x="2072580" y="2850860"/>
                  <a:pt x="2010725" y="2912715"/>
                  <a:pt x="1934422" y="2912715"/>
                </a:cubicBezTo>
                <a:lnTo>
                  <a:pt x="138158" y="2912715"/>
                </a:lnTo>
                <a:cubicBezTo>
                  <a:pt x="61855" y="2912715"/>
                  <a:pt x="0" y="2850860"/>
                  <a:pt x="0" y="2774557"/>
                </a:cubicBezTo>
                <a:lnTo>
                  <a:pt x="0" y="138158"/>
                </a:lnTo>
                <a:cubicBezTo>
                  <a:pt x="0" y="61855"/>
                  <a:pt x="61855" y="0"/>
                  <a:pt x="138158" y="0"/>
                </a:cubicBezTo>
                <a:close/>
              </a:path>
            </a:pathLst>
          </a:cu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9EA652-2649-430D-AAA9-3BE78347B0DA}"/>
              </a:ext>
            </a:extLst>
          </p:cNvPr>
          <p:cNvSpPr txBox="1"/>
          <p:nvPr/>
        </p:nvSpPr>
        <p:spPr>
          <a:xfrm>
            <a:off x="10610850" y="376238"/>
            <a:ext cx="769938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WHO ARE WE</a:t>
            </a:r>
          </a:p>
        </p:txBody>
      </p:sp>
      <p:sp>
        <p:nvSpPr>
          <p:cNvPr id="4111" name="TextBox 15">
            <a:extLst>
              <a:ext uri="{FF2B5EF4-FFF2-40B4-BE49-F238E27FC236}">
                <a16:creationId xmlns:a16="http://schemas.microsoft.com/office/drawing/2014/main" id="{63997918-7587-4285-AC94-8C64D9CA1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Project Team &amp; Roles</a:t>
            </a:r>
          </a:p>
        </p:txBody>
      </p:sp>
      <p:sp>
        <p:nvSpPr>
          <p:cNvPr id="4112" name="TextBox 16">
            <a:extLst>
              <a:ext uri="{FF2B5EF4-FFF2-40B4-BE49-F238E27FC236}">
                <a16:creationId xmlns:a16="http://schemas.microsoft.com/office/drawing/2014/main" id="{62593BFF-0E18-4EF8-9B6C-73ABF4787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31781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Clear task distribution among the 5 team members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36FBC-430D-4B70-B2D9-8A4F9C3682FC}"/>
              </a:ext>
            </a:extLst>
          </p:cNvPr>
          <p:cNvSpPr txBox="1"/>
          <p:nvPr/>
        </p:nvSpPr>
        <p:spPr>
          <a:xfrm>
            <a:off x="609600" y="6477000"/>
            <a:ext cx="1700213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Team Organization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0C8D8-EABF-42F6-BD3D-7AC3B1602C82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6379FE-3CB7-402D-B188-BA34AF7DCF54}"/>
              </a:ext>
            </a:extLst>
          </p:cNvPr>
          <p:cNvSpPr txBox="1"/>
          <p:nvPr/>
        </p:nvSpPr>
        <p:spPr>
          <a:xfrm>
            <a:off x="1003300" y="3792538"/>
            <a:ext cx="1285875" cy="1968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75" b="1" dirty="0">
                <a:solidFill>
                  <a:srgbClr val="0F172A"/>
                </a:solidFill>
              </a:rPr>
              <a:t>Andrea Roithmeier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934A5-53EE-44B6-ABEC-890C3B779E3E}"/>
              </a:ext>
            </a:extLst>
          </p:cNvPr>
          <p:cNvSpPr txBox="1"/>
          <p:nvPr/>
        </p:nvSpPr>
        <p:spPr>
          <a:xfrm>
            <a:off x="1323975" y="4021138"/>
            <a:ext cx="644525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75" b="1" dirty="0">
                <a:solidFill>
                  <a:srgbClr val="EF4444"/>
                </a:solidFill>
              </a:rPr>
              <a:t>Project Lead</a:t>
            </a:r>
            <a:endParaRPr sz="975" b="1" dirty="0">
              <a:solidFill>
                <a:srgbClr val="EF444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8A4338-C591-4600-85C3-AB514D65F330}"/>
              </a:ext>
            </a:extLst>
          </p:cNvPr>
          <p:cNvSpPr txBox="1"/>
          <p:nvPr/>
        </p:nvSpPr>
        <p:spPr>
          <a:xfrm>
            <a:off x="576263" y="4287838"/>
            <a:ext cx="2138362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2CEEF9-7841-4710-87C2-F508D29D6177}"/>
              </a:ext>
            </a:extLst>
          </p:cNvPr>
          <p:cNvSpPr txBox="1"/>
          <p:nvPr/>
        </p:nvSpPr>
        <p:spPr>
          <a:xfrm>
            <a:off x="3389313" y="3792538"/>
            <a:ext cx="963612" cy="1968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75" b="1" dirty="0">
                <a:solidFill>
                  <a:srgbClr val="0F172A"/>
                </a:solidFill>
              </a:rPr>
              <a:t>David </a:t>
            </a:r>
            <a:r>
              <a:rPr lang="de-DE" sz="1275" b="1" dirty="0" err="1">
                <a:solidFill>
                  <a:srgbClr val="0F172A"/>
                </a:solidFill>
              </a:rPr>
              <a:t>Sageder</a:t>
            </a:r>
            <a:endParaRPr lang="de-DE" sz="1275" b="1" dirty="0">
              <a:solidFill>
                <a:srgbClr val="0F172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88808C-2FA0-4D4B-8674-01BFF7926D9E}"/>
              </a:ext>
            </a:extLst>
          </p:cNvPr>
          <p:cNvSpPr txBox="1"/>
          <p:nvPr/>
        </p:nvSpPr>
        <p:spPr>
          <a:xfrm>
            <a:off x="2851150" y="4021138"/>
            <a:ext cx="2039938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75" b="1" dirty="0">
                <a:solidFill>
                  <a:srgbClr val="EF4444"/>
                </a:solidFill>
              </a:rPr>
              <a:t>Vice Project Lead &amp; Hardware Engineer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015AA-C9CF-4BDE-B318-F915D68EEDBE}"/>
              </a:ext>
            </a:extLst>
          </p:cNvPr>
          <p:cNvSpPr txBox="1"/>
          <p:nvPr/>
        </p:nvSpPr>
        <p:spPr>
          <a:xfrm>
            <a:off x="2801938" y="4287838"/>
            <a:ext cx="2138362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75569"/>
                </a:solidFill>
              </a:rPr>
              <a:t>Raspberry Pi setup.</a:t>
            </a:r>
            <a:br>
              <a:rPr lang="en-US" sz="1050" dirty="0">
                <a:solidFill>
                  <a:srgbClr val="475569"/>
                </a:solidFill>
              </a:rPr>
            </a:br>
            <a:r>
              <a:rPr lang="en-US" sz="1050" dirty="0" err="1">
                <a:solidFill>
                  <a:srgbClr val="475569"/>
                </a:solidFill>
              </a:rPr>
              <a:t>OpenWeather</a:t>
            </a:r>
            <a:r>
              <a:rPr lang="en-US" sz="1050" dirty="0">
                <a:solidFill>
                  <a:srgbClr val="475569"/>
                </a:solidFill>
              </a:rPr>
              <a:t> API and data logging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6238C9-B44A-4BF4-BB45-0097F104638E}"/>
              </a:ext>
            </a:extLst>
          </p:cNvPr>
          <p:cNvSpPr txBox="1"/>
          <p:nvPr/>
        </p:nvSpPr>
        <p:spPr>
          <a:xfrm>
            <a:off x="5654675" y="3792538"/>
            <a:ext cx="882650" cy="1968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275" b="1" dirty="0">
                <a:solidFill>
                  <a:srgbClr val="0F172A"/>
                </a:solidFill>
              </a:rPr>
              <a:t>Fabian Seelig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4ED5A0-A7E5-497C-AF7D-5CE7CD70558D}"/>
              </a:ext>
            </a:extLst>
          </p:cNvPr>
          <p:cNvSpPr txBox="1"/>
          <p:nvPr/>
        </p:nvSpPr>
        <p:spPr>
          <a:xfrm>
            <a:off x="5472113" y="4021138"/>
            <a:ext cx="1247775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b="1" dirty="0">
                <a:solidFill>
                  <a:srgbClr val="EF4444"/>
                </a:solidFill>
              </a:rPr>
              <a:t>API &amp; Backend Engineer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373917-3C6D-4410-B0F6-06FBE4453D45}"/>
              </a:ext>
            </a:extLst>
          </p:cNvPr>
          <p:cNvSpPr txBox="1"/>
          <p:nvPr/>
        </p:nvSpPr>
        <p:spPr>
          <a:xfrm>
            <a:off x="5026025" y="4287838"/>
            <a:ext cx="2138363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 err="1">
                <a:solidFill>
                  <a:srgbClr val="475569"/>
                </a:solidFill>
              </a:rPr>
              <a:t>OpenWeather</a:t>
            </a:r>
            <a:r>
              <a:rPr sz="1050" dirty="0">
                <a:solidFill>
                  <a:srgbClr val="475569"/>
                </a:solidFill>
              </a:rPr>
              <a:t> API and data logging.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C18A39-6784-4852-BB2A-265989FADAA9}"/>
              </a:ext>
            </a:extLst>
          </p:cNvPr>
          <p:cNvSpPr txBox="1"/>
          <p:nvPr/>
        </p:nvSpPr>
        <p:spPr>
          <a:xfrm>
            <a:off x="7767638" y="3792538"/>
            <a:ext cx="1106487" cy="1968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275" b="1" dirty="0">
                <a:solidFill>
                  <a:srgbClr val="0F172A"/>
                </a:solidFill>
              </a:rPr>
              <a:t>Julian </a:t>
            </a:r>
            <a:r>
              <a:rPr sz="1275" b="1" dirty="0" err="1">
                <a:solidFill>
                  <a:srgbClr val="0F172A"/>
                </a:solidFill>
              </a:rPr>
              <a:t>Weißböck</a:t>
            </a:r>
            <a:endParaRPr sz="1275" b="1" dirty="0">
              <a:solidFill>
                <a:srgbClr val="0F172A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54F254-6C1D-4F20-AD45-DC19C95176CF}"/>
              </a:ext>
            </a:extLst>
          </p:cNvPr>
          <p:cNvSpPr txBox="1"/>
          <p:nvPr/>
        </p:nvSpPr>
        <p:spPr>
          <a:xfrm>
            <a:off x="7915275" y="4021138"/>
            <a:ext cx="811213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75" b="1" dirty="0" err="1">
                <a:solidFill>
                  <a:srgbClr val="EF4444"/>
                </a:solidFill>
              </a:rPr>
              <a:t>Documentation</a:t>
            </a:r>
            <a:endParaRPr sz="975" b="1" dirty="0">
              <a:solidFill>
                <a:srgbClr val="EF4444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BCCE23-AFB3-4C2D-B192-DA91BBAC2CC7}"/>
              </a:ext>
            </a:extLst>
          </p:cNvPr>
          <p:cNvSpPr txBox="1"/>
          <p:nvPr/>
        </p:nvSpPr>
        <p:spPr>
          <a:xfrm>
            <a:off x="9509125" y="4287838"/>
            <a:ext cx="2138363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Project webpage and admin docs.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D82F94-C5DD-43CF-8745-BDF80701CFC3}"/>
              </a:ext>
            </a:extLst>
          </p:cNvPr>
          <p:cNvSpPr txBox="1"/>
          <p:nvPr/>
        </p:nvSpPr>
        <p:spPr>
          <a:xfrm>
            <a:off x="9828213" y="3792538"/>
            <a:ext cx="1435100" cy="1968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275" b="1" dirty="0">
                <a:solidFill>
                  <a:srgbClr val="0F172A"/>
                </a:solidFill>
              </a:rPr>
              <a:t>Matthias </a:t>
            </a:r>
            <a:r>
              <a:rPr sz="1275" b="1" dirty="0" err="1">
                <a:solidFill>
                  <a:srgbClr val="0F172A"/>
                </a:solidFill>
              </a:rPr>
              <a:t>Winklehner</a:t>
            </a:r>
            <a:endParaRPr sz="1275" b="1" dirty="0">
              <a:solidFill>
                <a:srgbClr val="0F172A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BE771F-FE14-4628-8C77-FD3198D9DFCF}"/>
              </a:ext>
            </a:extLst>
          </p:cNvPr>
          <p:cNvSpPr txBox="1"/>
          <p:nvPr/>
        </p:nvSpPr>
        <p:spPr>
          <a:xfrm>
            <a:off x="10142538" y="4021138"/>
            <a:ext cx="806450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75" b="1" dirty="0">
                <a:solidFill>
                  <a:srgbClr val="EF4444"/>
                </a:solidFill>
              </a:rPr>
              <a:t>Web Developer</a:t>
            </a:r>
            <a:endParaRPr sz="975" b="1" dirty="0">
              <a:solidFill>
                <a:srgbClr val="EF4444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08139D-48ED-4B24-9511-AA2250308341}"/>
              </a:ext>
            </a:extLst>
          </p:cNvPr>
          <p:cNvSpPr txBox="1"/>
          <p:nvPr/>
        </p:nvSpPr>
        <p:spPr>
          <a:xfrm>
            <a:off x="7251700" y="4284663"/>
            <a:ext cx="2138363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Time tracking and weekly reports.</a:t>
            </a:r>
          </a:p>
        </p:txBody>
      </p:sp>
      <p:pic>
        <p:nvPicPr>
          <p:cNvPr id="4130" name="Picture 2">
            <a:extLst>
              <a:ext uri="{FF2B5EF4-FFF2-40B4-BE49-F238E27FC236}">
                <a16:creationId xmlns:a16="http://schemas.microsoft.com/office/drawing/2014/main" id="{B210CE44-3BAD-44B2-9169-4DB84F60A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B71C5-A0E0-4F4E-AEE4-1574B110AE24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494046-5C84-4BF9-A594-27CDC6BE3AC6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BEA7BC-08B7-415E-ADAC-5AAF962C9195}"/>
              </a:ext>
            </a:extLst>
          </p:cNvPr>
          <p:cNvSpPr/>
          <p:nvPr/>
        </p:nvSpPr>
        <p:spPr>
          <a:xfrm>
            <a:off x="609600" y="2051050"/>
            <a:ext cx="2600325" cy="38830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90122A-6330-4F6F-9CBD-4F98A1CBF086}"/>
              </a:ext>
            </a:extLst>
          </p:cNvPr>
          <p:cNvSpPr/>
          <p:nvPr/>
        </p:nvSpPr>
        <p:spPr>
          <a:xfrm>
            <a:off x="3400425" y="2051050"/>
            <a:ext cx="2600325" cy="38830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7632EB-B075-40A5-8D91-3E56E32FB175}"/>
              </a:ext>
            </a:extLst>
          </p:cNvPr>
          <p:cNvSpPr/>
          <p:nvPr/>
        </p:nvSpPr>
        <p:spPr>
          <a:xfrm>
            <a:off x="6191250" y="2051050"/>
            <a:ext cx="2600325" cy="38830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E8705E2-5CD7-4030-BD06-0B026368A90B}"/>
              </a:ext>
            </a:extLst>
          </p:cNvPr>
          <p:cNvSpPr/>
          <p:nvPr/>
        </p:nvSpPr>
        <p:spPr>
          <a:xfrm>
            <a:off x="8982075" y="2051050"/>
            <a:ext cx="2600325" cy="38830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5128" name="Picture 8" descr="image.png">
            <a:extLst>
              <a:ext uri="{FF2B5EF4-FFF2-40B4-BE49-F238E27FC236}">
                <a16:creationId xmlns:a16="http://schemas.microsoft.com/office/drawing/2014/main" id="{6C2BC8AF-6F1C-434B-9EBD-34817040E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2289175"/>
            <a:ext cx="2124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 descr="image.png">
            <a:extLst>
              <a:ext uri="{FF2B5EF4-FFF2-40B4-BE49-F238E27FC236}">
                <a16:creationId xmlns:a16="http://schemas.microsoft.com/office/drawing/2014/main" id="{D5C07CA4-1372-488E-98EB-D820A3930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289175"/>
            <a:ext cx="2124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 descr="image.png">
            <a:extLst>
              <a:ext uri="{FF2B5EF4-FFF2-40B4-BE49-F238E27FC236}">
                <a16:creationId xmlns:a16="http://schemas.microsoft.com/office/drawing/2014/main" id="{EE0DC62D-721C-489A-B60C-A8C3B324A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2289175"/>
            <a:ext cx="2124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 descr="image.png">
            <a:extLst>
              <a:ext uri="{FF2B5EF4-FFF2-40B4-BE49-F238E27FC236}">
                <a16:creationId xmlns:a16="http://schemas.microsoft.com/office/drawing/2014/main" id="{9C1640B8-0D7A-43F6-9619-417BD6C5C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2289175"/>
            <a:ext cx="2124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2272D7-C99E-4A11-98AA-74F21C774F3C}"/>
              </a:ext>
            </a:extLst>
          </p:cNvPr>
          <p:cNvSpPr txBox="1"/>
          <p:nvPr/>
        </p:nvSpPr>
        <p:spPr>
          <a:xfrm>
            <a:off x="10820400" y="376238"/>
            <a:ext cx="585788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OUR PLAN</a:t>
            </a:r>
          </a:p>
        </p:txBody>
      </p:sp>
      <p:sp>
        <p:nvSpPr>
          <p:cNvPr id="5133" name="TextBox 13">
            <a:extLst>
              <a:ext uri="{FF2B5EF4-FFF2-40B4-BE49-F238E27FC236}">
                <a16:creationId xmlns:a16="http://schemas.microsoft.com/office/drawing/2014/main" id="{7142FD26-1250-474E-8652-5FAF7828B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Project Management Standards</a:t>
            </a:r>
          </a:p>
        </p:txBody>
      </p:sp>
      <p:sp>
        <p:nvSpPr>
          <p:cNvPr id="5134" name="TextBox 14">
            <a:extLst>
              <a:ext uri="{FF2B5EF4-FFF2-40B4-BE49-F238E27FC236}">
                <a16:creationId xmlns:a16="http://schemas.microsoft.com/office/drawing/2014/main" id="{3D2BDF7A-A154-469D-A914-76C4367C7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37750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Structured execution, quality assurance, and weekly tracking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EE27E5-0D37-45C4-8199-B63CED9C43A7}"/>
              </a:ext>
            </a:extLst>
          </p:cNvPr>
          <p:cNvSpPr txBox="1"/>
          <p:nvPr/>
        </p:nvSpPr>
        <p:spPr>
          <a:xfrm>
            <a:off x="609600" y="6477000"/>
            <a:ext cx="1903413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Governance &amp; 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6A0923-1DF9-487B-8393-3B13971F9113}"/>
              </a:ext>
            </a:extLst>
          </p:cNvPr>
          <p:cNvSpPr txBox="1"/>
          <p:nvPr/>
        </p:nvSpPr>
        <p:spPr>
          <a:xfrm>
            <a:off x="11115675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</a:t>
            </a:r>
            <a:r>
              <a:rPr lang="de-DE" sz="975" dirty="0">
                <a:solidFill>
                  <a:srgbClr val="0F172A"/>
                </a:solidFill>
              </a:rPr>
              <a:t>4</a:t>
            </a:r>
            <a:endParaRPr sz="975" dirty="0">
              <a:solidFill>
                <a:srgbClr val="0F172A"/>
              </a:solidFill>
            </a:endParaRPr>
          </a:p>
        </p:txBody>
      </p:sp>
      <p:sp>
        <p:nvSpPr>
          <p:cNvPr id="5137" name="TextBox 18">
            <a:extLst>
              <a:ext uri="{FF2B5EF4-FFF2-40B4-BE49-F238E27FC236}">
                <a16:creationId xmlns:a16="http://schemas.microsoft.com/office/drawing/2014/main" id="{1549632E-DB8E-4016-AD47-4D6E12B39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5553075"/>
            <a:ext cx="6508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EF4444"/>
                </a:solidFill>
              </a:rPr>
              <a:t>MANDATORY</a:t>
            </a:r>
          </a:p>
        </p:txBody>
      </p:sp>
      <p:sp>
        <p:nvSpPr>
          <p:cNvPr id="5138" name="TextBox 19">
            <a:extLst>
              <a:ext uri="{FF2B5EF4-FFF2-40B4-BE49-F238E27FC236}">
                <a16:creationId xmlns:a16="http://schemas.microsoft.com/office/drawing/2014/main" id="{CA6B6F8F-8FE9-46CE-B0CF-0084A0284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5553075"/>
            <a:ext cx="6508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EF4444"/>
                </a:solidFill>
              </a:rPr>
              <a:t>MANDATORY</a:t>
            </a:r>
          </a:p>
        </p:txBody>
      </p:sp>
      <p:sp>
        <p:nvSpPr>
          <p:cNvPr id="5139" name="TextBox 20">
            <a:extLst>
              <a:ext uri="{FF2B5EF4-FFF2-40B4-BE49-F238E27FC236}">
                <a16:creationId xmlns:a16="http://schemas.microsoft.com/office/drawing/2014/main" id="{8556DD2F-AB27-44C0-A763-E53ECC860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5553075"/>
            <a:ext cx="6508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EF4444"/>
                </a:solidFill>
              </a:rPr>
              <a:t>MANDATORY</a:t>
            </a:r>
          </a:p>
        </p:txBody>
      </p:sp>
      <p:sp>
        <p:nvSpPr>
          <p:cNvPr id="5140" name="TextBox 21">
            <a:extLst>
              <a:ext uri="{FF2B5EF4-FFF2-40B4-BE49-F238E27FC236}">
                <a16:creationId xmlns:a16="http://schemas.microsoft.com/office/drawing/2014/main" id="{36D4312C-77D4-4FD9-9EDE-90241E0F2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5553075"/>
            <a:ext cx="6508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EF4444"/>
                </a:solidFill>
              </a:rPr>
              <a:t>MANDATORY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C9D55D-3CC8-4A86-B3C5-DE2DD820244E}"/>
              </a:ext>
            </a:extLst>
          </p:cNvPr>
          <p:cNvSpPr txBox="1"/>
          <p:nvPr/>
        </p:nvSpPr>
        <p:spPr>
          <a:xfrm>
            <a:off x="847725" y="3692525"/>
            <a:ext cx="841375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Organigram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AE57B-CD33-4573-B118-D4218D55659C}"/>
              </a:ext>
            </a:extLst>
          </p:cNvPr>
          <p:cNvSpPr txBox="1"/>
          <p:nvPr/>
        </p:nvSpPr>
        <p:spPr>
          <a:xfrm>
            <a:off x="847725" y="3968750"/>
            <a:ext cx="2219325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Formal team structure and clear role descriptions for each member.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037834-6926-4A54-999C-9357369431D9}"/>
              </a:ext>
            </a:extLst>
          </p:cNvPr>
          <p:cNvSpPr txBox="1"/>
          <p:nvPr/>
        </p:nvSpPr>
        <p:spPr>
          <a:xfrm>
            <a:off x="3638550" y="3773488"/>
            <a:ext cx="1346200" cy="2079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CPM Network Plan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59027-2ABB-42A8-AF33-192273CEC351}"/>
              </a:ext>
            </a:extLst>
          </p:cNvPr>
          <p:cNvSpPr txBox="1"/>
          <p:nvPr/>
        </p:nvSpPr>
        <p:spPr>
          <a:xfrm>
            <a:off x="3638550" y="4049713"/>
            <a:ext cx="2219325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 err="1">
                <a:solidFill>
                  <a:srgbClr val="64748B"/>
                </a:solidFill>
              </a:rPr>
              <a:t>ProjectLibre</a:t>
            </a:r>
            <a:r>
              <a:rPr sz="1050" dirty="0">
                <a:solidFill>
                  <a:srgbClr val="64748B"/>
                </a:solidFill>
              </a:rPr>
              <a:t> plan identifying critical paths and milestones.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2C25D4-1803-47B6-863B-3EBB09549C31}"/>
              </a:ext>
            </a:extLst>
          </p:cNvPr>
          <p:cNvSpPr txBox="1"/>
          <p:nvPr/>
        </p:nvSpPr>
        <p:spPr>
          <a:xfrm>
            <a:off x="6429375" y="3692525"/>
            <a:ext cx="1241425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Weekly Protocols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EB4F7D-EF41-490D-A5C6-C758C3026ED8}"/>
              </a:ext>
            </a:extLst>
          </p:cNvPr>
          <p:cNvSpPr txBox="1"/>
          <p:nvPr/>
        </p:nvSpPr>
        <p:spPr>
          <a:xfrm>
            <a:off x="6429375" y="3968750"/>
            <a:ext cx="2219325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Signed weekly activity reports documenting progress and targets.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4AC268-6767-49AB-AF46-2B9438A15AB8}"/>
              </a:ext>
            </a:extLst>
          </p:cNvPr>
          <p:cNvSpPr txBox="1"/>
          <p:nvPr/>
        </p:nvSpPr>
        <p:spPr>
          <a:xfrm>
            <a:off x="9220200" y="3773488"/>
            <a:ext cx="985838" cy="2079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Time Tracking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7B653B-EF5C-48D2-8655-E3C447205E5E}"/>
              </a:ext>
            </a:extLst>
          </p:cNvPr>
          <p:cNvSpPr txBox="1"/>
          <p:nvPr/>
        </p:nvSpPr>
        <p:spPr>
          <a:xfrm>
            <a:off x="9220200" y="4049713"/>
            <a:ext cx="2219325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 err="1">
                <a:solidFill>
                  <a:srgbClr val="64748B"/>
                </a:solidFill>
              </a:rPr>
              <a:t>Kimai</a:t>
            </a:r>
            <a:r>
              <a:rPr sz="1050" dirty="0">
                <a:solidFill>
                  <a:srgbClr val="64748B"/>
                </a:solidFill>
              </a:rPr>
              <a:t> software logging personal workload and hourly effort.</a:t>
            </a:r>
          </a:p>
        </p:txBody>
      </p:sp>
      <p:pic>
        <p:nvPicPr>
          <p:cNvPr id="5149" name="Picture 2">
            <a:extLst>
              <a:ext uri="{FF2B5EF4-FFF2-40B4-BE49-F238E27FC236}">
                <a16:creationId xmlns:a16="http://schemas.microsoft.com/office/drawing/2014/main" id="{B5551544-9AED-404B-BF4D-815694FC4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32D443-047B-4ED2-AF35-F9AC6EF70CDE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7C4A9-2543-499D-8381-6B754BDE7AD9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5ED04D-F08E-4FF2-BB9F-E4ABADCADF1D}"/>
              </a:ext>
            </a:extLst>
          </p:cNvPr>
          <p:cNvSpPr txBox="1"/>
          <p:nvPr/>
        </p:nvSpPr>
        <p:spPr>
          <a:xfrm>
            <a:off x="10887075" y="376238"/>
            <a:ext cx="531813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TIMELINE</a:t>
            </a:r>
          </a:p>
        </p:txBody>
      </p:sp>
      <p:sp>
        <p:nvSpPr>
          <p:cNvPr id="6149" name="TextBox 10">
            <a:extLst>
              <a:ext uri="{FF2B5EF4-FFF2-40B4-BE49-F238E27FC236}">
                <a16:creationId xmlns:a16="http://schemas.microsoft.com/office/drawing/2014/main" id="{ECC79DDA-930C-4E97-B269-F572C0670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Project Roadmap &amp; Milestones</a:t>
            </a:r>
          </a:p>
        </p:txBody>
      </p:sp>
      <p:sp>
        <p:nvSpPr>
          <p:cNvPr id="6150" name="TextBox 11">
            <a:extLst>
              <a:ext uri="{FF2B5EF4-FFF2-40B4-BE49-F238E27FC236}">
                <a16:creationId xmlns:a16="http://schemas.microsoft.com/office/drawing/2014/main" id="{1311E408-BE9F-4C6D-9B29-F250F9F6E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362426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Phased progression from initial setup to final presentation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578E1-ACC9-4D0D-B991-0AD2DB88F18D}"/>
              </a:ext>
            </a:extLst>
          </p:cNvPr>
          <p:cNvSpPr txBox="1"/>
          <p:nvPr/>
        </p:nvSpPr>
        <p:spPr>
          <a:xfrm>
            <a:off x="609600" y="6477000"/>
            <a:ext cx="1690688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Project Milestones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855B2E-E3A6-4023-BDF9-F1F6B2710EFA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</a:t>
            </a:r>
            <a:r>
              <a:rPr lang="de-DE" sz="975" dirty="0">
                <a:solidFill>
                  <a:srgbClr val="0F172A"/>
                </a:solidFill>
              </a:rPr>
              <a:t>5</a:t>
            </a:r>
            <a:endParaRPr sz="975" dirty="0">
              <a:solidFill>
                <a:srgbClr val="0F172A"/>
              </a:solidFill>
            </a:endParaRPr>
          </a:p>
        </p:txBody>
      </p:sp>
      <p:pic>
        <p:nvPicPr>
          <p:cNvPr id="6153" name="Picture 2">
            <a:extLst>
              <a:ext uri="{FF2B5EF4-FFF2-40B4-BE49-F238E27FC236}">
                <a16:creationId xmlns:a16="http://schemas.microsoft.com/office/drawing/2014/main" id="{DC05EC7D-CB30-49B3-9D46-7E67B2256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Grafik 36">
            <a:extLst>
              <a:ext uri="{FF2B5EF4-FFF2-40B4-BE49-F238E27FC236}">
                <a16:creationId xmlns:a16="http://schemas.microsoft.com/office/drawing/2014/main" id="{92C9AA91-066B-46C7-984A-DB3D3372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50" y="427038"/>
            <a:ext cx="5988050" cy="565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Grafik 38">
            <a:extLst>
              <a:ext uri="{FF2B5EF4-FFF2-40B4-BE49-F238E27FC236}">
                <a16:creationId xmlns:a16="http://schemas.microsoft.com/office/drawing/2014/main" id="{35377E37-5DC5-4E61-A1D0-582E9EC7F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84363"/>
            <a:ext cx="440055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959B2-0432-419B-842B-2BAB8F288DB0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1F37C-B4F7-4D7A-8633-E998FD1106CF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3D641F-9AA8-4A35-B4F2-5FB2B61E58EB}"/>
              </a:ext>
            </a:extLst>
          </p:cNvPr>
          <p:cNvSpPr/>
          <p:nvPr/>
        </p:nvSpPr>
        <p:spPr>
          <a:xfrm>
            <a:off x="609600" y="2678113"/>
            <a:ext cx="5686425" cy="2628900"/>
          </a:xfrm>
          <a:prstGeom prst="roundRect">
            <a:avLst>
              <a:gd name="adj" fmla="val 5797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89730F-1870-485B-8998-31FD3A6C3871}"/>
              </a:ext>
            </a:extLst>
          </p:cNvPr>
          <p:cNvSpPr/>
          <p:nvPr/>
        </p:nvSpPr>
        <p:spPr>
          <a:xfrm>
            <a:off x="6600825" y="2339975"/>
            <a:ext cx="4981575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rgbClr val="FEF2F2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A0F436-D76B-4E46-BA2B-DF3F52E0B41F}"/>
              </a:ext>
            </a:extLst>
          </p:cNvPr>
          <p:cNvSpPr/>
          <p:nvPr/>
        </p:nvSpPr>
        <p:spPr>
          <a:xfrm>
            <a:off x="6600825" y="3492500"/>
            <a:ext cx="4981575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F38AB8-E484-4B0B-AF8C-F82352032D91}"/>
              </a:ext>
            </a:extLst>
          </p:cNvPr>
          <p:cNvSpPr/>
          <p:nvPr/>
        </p:nvSpPr>
        <p:spPr>
          <a:xfrm>
            <a:off x="6600825" y="4645025"/>
            <a:ext cx="4981575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DD4C9-9321-4AB9-A86B-6BEC24BF8638}"/>
              </a:ext>
            </a:extLst>
          </p:cNvPr>
          <p:cNvSpPr/>
          <p:nvPr/>
        </p:nvSpPr>
        <p:spPr>
          <a:xfrm>
            <a:off x="6600825" y="2339975"/>
            <a:ext cx="38100" cy="100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924DA-06F1-4F27-B527-CD951ABD9D0E}"/>
              </a:ext>
            </a:extLst>
          </p:cNvPr>
          <p:cNvSpPr/>
          <p:nvPr/>
        </p:nvSpPr>
        <p:spPr>
          <a:xfrm>
            <a:off x="6600825" y="3492500"/>
            <a:ext cx="38100" cy="100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CADFAE-EEDB-4497-9FF1-7AF7EE4AF4F1}"/>
              </a:ext>
            </a:extLst>
          </p:cNvPr>
          <p:cNvSpPr/>
          <p:nvPr/>
        </p:nvSpPr>
        <p:spPr>
          <a:xfrm>
            <a:off x="6600825" y="4645025"/>
            <a:ext cx="38100" cy="100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7179" name="Picture 11" descr="image.png">
            <a:extLst>
              <a:ext uri="{FF2B5EF4-FFF2-40B4-BE49-F238E27FC236}">
                <a16:creationId xmlns:a16="http://schemas.microsoft.com/office/drawing/2014/main" id="{B61BD680-994E-4ABB-8C97-A6B836843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3030538"/>
            <a:ext cx="266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0" name="Picture 12" descr="image.png">
            <a:extLst>
              <a:ext uri="{FF2B5EF4-FFF2-40B4-BE49-F238E27FC236}">
                <a16:creationId xmlns:a16="http://schemas.microsoft.com/office/drawing/2014/main" id="{61E00816-098D-401D-9B5E-F51E6119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4173538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1" name="Picture 13" descr="image.png">
            <a:extLst>
              <a:ext uri="{FF2B5EF4-FFF2-40B4-BE49-F238E27FC236}">
                <a16:creationId xmlns:a16="http://schemas.microsoft.com/office/drawing/2014/main" id="{214BD9C8-5183-42AF-8A58-5992611DE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4478338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2" name="Picture 14" descr="image.png">
            <a:extLst>
              <a:ext uri="{FF2B5EF4-FFF2-40B4-BE49-F238E27FC236}">
                <a16:creationId xmlns:a16="http://schemas.microsoft.com/office/drawing/2014/main" id="{1C7E8DD8-F722-4482-9B75-71247A209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4783138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46E967-5A98-4AF6-9139-7E574E407246}"/>
              </a:ext>
            </a:extLst>
          </p:cNvPr>
          <p:cNvSpPr txBox="1"/>
          <p:nvPr/>
        </p:nvSpPr>
        <p:spPr>
          <a:xfrm>
            <a:off x="10467975" y="376238"/>
            <a:ext cx="866775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VISION &amp; GOAL</a:t>
            </a:r>
          </a:p>
        </p:txBody>
      </p:sp>
      <p:sp>
        <p:nvSpPr>
          <p:cNvPr id="7184" name="TextBox 16">
            <a:extLst>
              <a:ext uri="{FF2B5EF4-FFF2-40B4-BE49-F238E27FC236}">
                <a16:creationId xmlns:a16="http://schemas.microsoft.com/office/drawing/2014/main" id="{DCAA0630-5CC5-402E-B8FE-AA84A0B2E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What is Our Vision?</a:t>
            </a:r>
          </a:p>
        </p:txBody>
      </p:sp>
      <p:sp>
        <p:nvSpPr>
          <p:cNvPr id="7185" name="TextBox 17">
            <a:extLst>
              <a:ext uri="{FF2B5EF4-FFF2-40B4-BE49-F238E27FC236}">
                <a16:creationId xmlns:a16="http://schemas.microsoft.com/office/drawing/2014/main" id="{AB0E9BE0-5D42-427E-AFF3-4622E3936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38004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Compact environmental monitoring with local touch controls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927BE3-59ED-43C4-BFAA-3DBA626D2ABE}"/>
              </a:ext>
            </a:extLst>
          </p:cNvPr>
          <p:cNvSpPr txBox="1"/>
          <p:nvPr/>
        </p:nvSpPr>
        <p:spPr>
          <a:xfrm>
            <a:off x="609600" y="6477000"/>
            <a:ext cx="1438275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Project Vision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6BBC5E-B226-40D8-AB4A-6C3E58D23E16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</a:t>
            </a:r>
            <a:r>
              <a:rPr lang="de-DE" sz="975" dirty="0">
                <a:solidFill>
                  <a:srgbClr val="0F172A"/>
                </a:solidFill>
              </a:rPr>
              <a:t>6</a:t>
            </a:r>
            <a:endParaRPr sz="975" dirty="0">
              <a:solidFill>
                <a:srgbClr val="0F172A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E370E-921A-4F46-B02A-75023ECFD631}"/>
              </a:ext>
            </a:extLst>
          </p:cNvPr>
          <p:cNvSpPr txBox="1"/>
          <p:nvPr/>
        </p:nvSpPr>
        <p:spPr>
          <a:xfrm>
            <a:off x="962025" y="3449638"/>
            <a:ext cx="5076825" cy="4953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50" dirty="0">
                <a:solidFill>
                  <a:srgbClr val="7F1D1D"/>
                </a:solidFill>
              </a:rPr>
              <a:t>Build a self-contained IoT weather station providing live indoor air quality readings and outdoor forecast projections.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01D921-5E3D-4887-A575-A576AA1BC051}"/>
              </a:ext>
            </a:extLst>
          </p:cNvPr>
          <p:cNvSpPr txBox="1"/>
          <p:nvPr/>
        </p:nvSpPr>
        <p:spPr>
          <a:xfrm>
            <a:off x="1343025" y="3040063"/>
            <a:ext cx="1144588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650" b="1" dirty="0">
                <a:solidFill>
                  <a:srgbClr val="991B1B"/>
                </a:solidFill>
              </a:rPr>
              <a:t>Primary Goal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C203DC-A665-49BC-9D03-3694386F689B}"/>
              </a:ext>
            </a:extLst>
          </p:cNvPr>
          <p:cNvSpPr txBox="1"/>
          <p:nvPr/>
        </p:nvSpPr>
        <p:spPr>
          <a:xfrm>
            <a:off x="6829425" y="2530475"/>
            <a:ext cx="1746250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Live Environmental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B86451-E7F3-4B60-BDE0-87EC5EF038BD}"/>
              </a:ext>
            </a:extLst>
          </p:cNvPr>
          <p:cNvSpPr txBox="1"/>
          <p:nvPr/>
        </p:nvSpPr>
        <p:spPr>
          <a:xfrm>
            <a:off x="6829425" y="2787650"/>
            <a:ext cx="4657725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dirty="0">
                <a:solidFill>
                  <a:srgbClr val="475569"/>
                </a:solidFill>
              </a:rPr>
              <a:t>Continuous tracking of room temperature, humidity, pressure, and air quality.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FE801C-9955-4918-AF03-70EAD7257B82}"/>
              </a:ext>
            </a:extLst>
          </p:cNvPr>
          <p:cNvSpPr txBox="1"/>
          <p:nvPr/>
        </p:nvSpPr>
        <p:spPr>
          <a:xfrm>
            <a:off x="6829425" y="3683000"/>
            <a:ext cx="1606550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Integrated Web Server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4BCCDD-C819-4307-B7FD-F52FA90E065C}"/>
              </a:ext>
            </a:extLst>
          </p:cNvPr>
          <p:cNvSpPr txBox="1"/>
          <p:nvPr/>
        </p:nvSpPr>
        <p:spPr>
          <a:xfrm>
            <a:off x="6829425" y="3940175"/>
            <a:ext cx="4657725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dirty="0">
                <a:solidFill>
                  <a:srgbClr val="475569"/>
                </a:solidFill>
              </a:rPr>
              <a:t>Raspberry Pi hosts local Web-GUI accessible directly on the 7-inch touch screen.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DDB7C1-DEE5-485A-A1D0-D9CC7B0A0D7A}"/>
              </a:ext>
            </a:extLst>
          </p:cNvPr>
          <p:cNvSpPr txBox="1"/>
          <p:nvPr/>
        </p:nvSpPr>
        <p:spPr>
          <a:xfrm>
            <a:off x="6829425" y="4835525"/>
            <a:ext cx="1951038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Documentation Web Portal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9FDD33-4A38-42B8-8B73-CA75ED363DD6}"/>
              </a:ext>
            </a:extLst>
          </p:cNvPr>
          <p:cNvSpPr txBox="1"/>
          <p:nvPr/>
        </p:nvSpPr>
        <p:spPr>
          <a:xfrm>
            <a:off x="6829425" y="5092700"/>
            <a:ext cx="4657725" cy="3460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dirty="0">
                <a:solidFill>
                  <a:srgbClr val="475569"/>
                </a:solidFill>
              </a:rPr>
              <a:t>Dedicated Virtual Machine hosting admin setup guides and smart home features.</a:t>
            </a:r>
          </a:p>
        </p:txBody>
      </p:sp>
      <p:sp>
        <p:nvSpPr>
          <p:cNvPr id="7196" name="TextBox 29">
            <a:extLst>
              <a:ext uri="{FF2B5EF4-FFF2-40B4-BE49-F238E27FC236}">
                <a16:creationId xmlns:a16="http://schemas.microsoft.com/office/drawing/2014/main" id="{BAD5F78A-AB02-4A12-83D6-54530638D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4154488"/>
            <a:ext cx="1743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 b="1">
                <a:solidFill>
                  <a:srgbClr val="1E293B"/>
                </a:solidFill>
              </a:rPr>
              <a:t>BME680 Sensor Integration</a:t>
            </a:r>
          </a:p>
        </p:txBody>
      </p:sp>
      <p:sp>
        <p:nvSpPr>
          <p:cNvPr id="7197" name="TextBox 30">
            <a:extLst>
              <a:ext uri="{FF2B5EF4-FFF2-40B4-BE49-F238E27FC236}">
                <a16:creationId xmlns:a16="http://schemas.microsoft.com/office/drawing/2014/main" id="{6E5F0929-F680-4FA9-9A23-CFE9842EF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4459288"/>
            <a:ext cx="15255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 b="1">
                <a:solidFill>
                  <a:srgbClr val="1E293B"/>
                </a:solidFill>
              </a:rPr>
              <a:t>Local Touch-Display GUI</a:t>
            </a:r>
          </a:p>
        </p:txBody>
      </p:sp>
      <p:sp>
        <p:nvSpPr>
          <p:cNvPr id="7198" name="TextBox 31">
            <a:extLst>
              <a:ext uri="{FF2B5EF4-FFF2-40B4-BE49-F238E27FC236}">
                <a16:creationId xmlns:a16="http://schemas.microsoft.com/office/drawing/2014/main" id="{11D1BA94-E324-430F-87D6-7596FA4B9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4764088"/>
            <a:ext cx="21224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 b="1">
                <a:solidFill>
                  <a:srgbClr val="1E293B"/>
                </a:solidFill>
              </a:rPr>
              <a:t>OpenWeather API 3-Day Forecast</a:t>
            </a:r>
          </a:p>
        </p:txBody>
      </p:sp>
      <p:pic>
        <p:nvPicPr>
          <p:cNvPr id="7199" name="Picture 2">
            <a:extLst>
              <a:ext uri="{FF2B5EF4-FFF2-40B4-BE49-F238E27FC236}">
                <a16:creationId xmlns:a16="http://schemas.microsoft.com/office/drawing/2014/main" id="{A09CF5C3-C99E-4935-B0E7-D99EF2FCB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057BD7-16D6-410F-B8CB-B3AD8E1096A5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FE2DC2-C19D-4529-AD73-93AB436EBCD8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ADECEC-621C-4377-8809-48AD6E5649A2}"/>
              </a:ext>
            </a:extLst>
          </p:cNvPr>
          <p:cNvSpPr/>
          <p:nvPr/>
        </p:nvSpPr>
        <p:spPr>
          <a:xfrm>
            <a:off x="609600" y="2051050"/>
            <a:ext cx="3505200" cy="388302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9CD62D-DE5C-4D9F-838D-4D0EFF69C2EE}"/>
              </a:ext>
            </a:extLst>
          </p:cNvPr>
          <p:cNvSpPr/>
          <p:nvPr/>
        </p:nvSpPr>
        <p:spPr>
          <a:xfrm>
            <a:off x="4343400" y="2051050"/>
            <a:ext cx="3505200" cy="388302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3E7643-8C12-407B-9612-EF40B9EAB663}"/>
              </a:ext>
            </a:extLst>
          </p:cNvPr>
          <p:cNvSpPr/>
          <p:nvPr/>
        </p:nvSpPr>
        <p:spPr>
          <a:xfrm>
            <a:off x="8077200" y="2051050"/>
            <a:ext cx="3505200" cy="388302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8199" name="Picture 7" descr="image.png">
            <a:extLst>
              <a:ext uri="{FF2B5EF4-FFF2-40B4-BE49-F238E27FC236}">
                <a16:creationId xmlns:a16="http://schemas.microsoft.com/office/drawing/2014/main" id="{5A8A7517-69A7-4356-ADF9-478CACBC7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327275"/>
            <a:ext cx="3333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 descr="image.png">
            <a:extLst>
              <a:ext uri="{FF2B5EF4-FFF2-40B4-BE49-F238E27FC236}">
                <a16:creationId xmlns:a16="http://schemas.microsoft.com/office/drawing/2014/main" id="{C3EA10F8-B42D-45A2-B837-727A6ABB2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327275"/>
            <a:ext cx="2571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 descr="image.png">
            <a:extLst>
              <a:ext uri="{FF2B5EF4-FFF2-40B4-BE49-F238E27FC236}">
                <a16:creationId xmlns:a16="http://schemas.microsoft.com/office/drawing/2014/main" id="{25AEA05C-94CE-4D9A-8EB5-061D707C1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2327275"/>
            <a:ext cx="390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7C5B90-FDC7-4AC9-938E-ECF396F154E0}"/>
              </a:ext>
            </a:extLst>
          </p:cNvPr>
          <p:cNvSpPr txBox="1"/>
          <p:nvPr/>
        </p:nvSpPr>
        <p:spPr>
          <a:xfrm>
            <a:off x="10848975" y="376238"/>
            <a:ext cx="560388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OUTLOOK</a:t>
            </a:r>
          </a:p>
        </p:txBody>
      </p:sp>
      <p:sp>
        <p:nvSpPr>
          <p:cNvPr id="8203" name="TextBox 11">
            <a:extLst>
              <a:ext uri="{FF2B5EF4-FFF2-40B4-BE49-F238E27FC236}">
                <a16:creationId xmlns:a16="http://schemas.microsoft.com/office/drawing/2014/main" id="{6D63C992-D695-4BE4-8432-21B1448A0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Smart Home &amp; Future Outlook</a:t>
            </a:r>
          </a:p>
        </p:txBody>
      </p:sp>
      <p:sp>
        <p:nvSpPr>
          <p:cNvPr id="8204" name="TextBox 12">
            <a:extLst>
              <a:ext uri="{FF2B5EF4-FFF2-40B4-BE49-F238E27FC236}">
                <a16:creationId xmlns:a16="http://schemas.microsoft.com/office/drawing/2014/main" id="{C2996074-AEDA-4B9A-8F53-F6F86110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3141663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Expansions and advanced automation integrations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A8992-B50F-463A-88EA-225E2A7705EA}"/>
              </a:ext>
            </a:extLst>
          </p:cNvPr>
          <p:cNvSpPr txBox="1"/>
          <p:nvPr/>
        </p:nvSpPr>
        <p:spPr>
          <a:xfrm>
            <a:off x="609600" y="6477000"/>
            <a:ext cx="1804988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Expansion &amp; Outlook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B43E3-CC61-409A-9EDB-0B7C9B5914A7}"/>
              </a:ext>
            </a:extLst>
          </p:cNvPr>
          <p:cNvSpPr txBox="1"/>
          <p:nvPr/>
        </p:nvSpPr>
        <p:spPr>
          <a:xfrm>
            <a:off x="11163300" y="6477000"/>
            <a:ext cx="3365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</a:t>
            </a:r>
            <a:r>
              <a:rPr lang="de-DE" sz="975" dirty="0">
                <a:solidFill>
                  <a:srgbClr val="0F172A"/>
                </a:solidFill>
              </a:rPr>
              <a:t>7</a:t>
            </a:r>
            <a:endParaRPr sz="975" dirty="0">
              <a:solidFill>
                <a:srgbClr val="0F172A"/>
              </a:solidFill>
            </a:endParaRPr>
          </a:p>
        </p:txBody>
      </p:sp>
      <p:sp>
        <p:nvSpPr>
          <p:cNvPr id="8207" name="TextBox 16">
            <a:extLst>
              <a:ext uri="{FF2B5EF4-FFF2-40B4-BE49-F238E27FC236}">
                <a16:creationId xmlns:a16="http://schemas.microsoft.com/office/drawing/2014/main" id="{7626C0F0-FA37-4D4C-A07B-A136221CE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5514975"/>
            <a:ext cx="6032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0088CC"/>
                </a:solidFill>
              </a:rPr>
              <a:t>CAN Feature</a:t>
            </a:r>
          </a:p>
        </p:txBody>
      </p:sp>
      <p:sp>
        <p:nvSpPr>
          <p:cNvPr id="8208" name="TextBox 17">
            <a:extLst>
              <a:ext uri="{FF2B5EF4-FFF2-40B4-BE49-F238E27FC236}">
                <a16:creationId xmlns:a16="http://schemas.microsoft.com/office/drawing/2014/main" id="{8286C34C-B28B-4750-9D31-6D9C3C385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5" y="5514975"/>
            <a:ext cx="6032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0F172A"/>
                </a:solidFill>
              </a:rPr>
              <a:t>CAN Feature</a:t>
            </a:r>
          </a:p>
        </p:txBody>
      </p:sp>
      <p:sp>
        <p:nvSpPr>
          <p:cNvPr id="8209" name="TextBox 18">
            <a:extLst>
              <a:ext uri="{FF2B5EF4-FFF2-40B4-BE49-F238E27FC236}">
                <a16:creationId xmlns:a16="http://schemas.microsoft.com/office/drawing/2014/main" id="{5F0A18E8-1126-48B0-9987-03CBF8B2B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425" y="5514975"/>
            <a:ext cx="11652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EF4444"/>
                </a:solidFill>
              </a:rPr>
              <a:t>Smart Home Integration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FE202E-B042-4D7A-BC39-E393060F54E7}"/>
              </a:ext>
            </a:extLst>
          </p:cNvPr>
          <p:cNvSpPr txBox="1"/>
          <p:nvPr/>
        </p:nvSpPr>
        <p:spPr>
          <a:xfrm>
            <a:off x="885825" y="2822575"/>
            <a:ext cx="1654175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Telegram Bot Warnings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C11A80-4DF7-4D6A-8CD9-62B3EDF9203C}"/>
              </a:ext>
            </a:extLst>
          </p:cNvPr>
          <p:cNvSpPr txBox="1"/>
          <p:nvPr/>
        </p:nvSpPr>
        <p:spPr>
          <a:xfrm>
            <a:off x="885825" y="3098800"/>
            <a:ext cx="3048000" cy="3952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Automated instant notifications for severe weather alerts, storm warnings, or sudden temperature drops.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82D7D1-3A5F-46C9-94DC-388876327987}"/>
              </a:ext>
            </a:extLst>
          </p:cNvPr>
          <p:cNvSpPr txBox="1"/>
          <p:nvPr/>
        </p:nvSpPr>
        <p:spPr>
          <a:xfrm>
            <a:off x="4619625" y="2822575"/>
            <a:ext cx="1792288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Air Quality LED Feedback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3EC66C-22D2-441D-922F-4F7194CD1CCE}"/>
              </a:ext>
            </a:extLst>
          </p:cNvPr>
          <p:cNvSpPr txBox="1"/>
          <p:nvPr/>
        </p:nvSpPr>
        <p:spPr>
          <a:xfrm>
            <a:off x="4619625" y="3098800"/>
            <a:ext cx="3048000" cy="4000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Physical LED indicator changing color based on BME680 indoor air quality index readings.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6D45BD-DE2C-476F-B999-07BED73A6D1B}"/>
              </a:ext>
            </a:extLst>
          </p:cNvPr>
          <p:cNvSpPr txBox="1"/>
          <p:nvPr/>
        </p:nvSpPr>
        <p:spPr>
          <a:xfrm>
            <a:off x="8353425" y="2822575"/>
            <a:ext cx="1228725" cy="2079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350" b="1" dirty="0">
                <a:solidFill>
                  <a:srgbClr val="0F172A"/>
                </a:solidFill>
              </a:rPr>
              <a:t>Smart Home Hub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7E9E93-28E1-49F4-B194-3C0B773C07E1}"/>
              </a:ext>
            </a:extLst>
          </p:cNvPr>
          <p:cNvSpPr txBox="1"/>
          <p:nvPr/>
        </p:nvSpPr>
        <p:spPr>
          <a:xfrm>
            <a:off x="8353425" y="3098800"/>
            <a:ext cx="3048000" cy="3952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64748B"/>
                </a:solidFill>
              </a:rPr>
              <a:t>Centralized control platform for additional home automation devices and remote web access.</a:t>
            </a:r>
          </a:p>
        </p:txBody>
      </p:sp>
      <p:pic>
        <p:nvPicPr>
          <p:cNvPr id="8216" name="Picture 2">
            <a:extLst>
              <a:ext uri="{FF2B5EF4-FFF2-40B4-BE49-F238E27FC236}">
                <a16:creationId xmlns:a16="http://schemas.microsoft.com/office/drawing/2014/main" id="{8B477BB3-8030-4141-828E-76AD3763F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B49C43-AC31-42D2-8E2B-7922BE19697E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7EF1C4-B2F6-4BA1-AB94-5844C475ACAF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F44214-E749-44ED-8D8F-336029863AE0}"/>
              </a:ext>
            </a:extLst>
          </p:cNvPr>
          <p:cNvSpPr/>
          <p:nvPr/>
        </p:nvSpPr>
        <p:spPr>
          <a:xfrm>
            <a:off x="609600" y="2051050"/>
            <a:ext cx="6335713" cy="3883025"/>
          </a:xfrm>
          <a:prstGeom prst="roundRect">
            <a:avLst>
              <a:gd name="adj" fmla="val 29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F4C4083-4DCB-4318-B737-55D107D69E08}"/>
              </a:ext>
            </a:extLst>
          </p:cNvPr>
          <p:cNvSpPr/>
          <p:nvPr/>
        </p:nvSpPr>
        <p:spPr>
          <a:xfrm>
            <a:off x="7173913" y="2051050"/>
            <a:ext cx="4408487" cy="3883025"/>
          </a:xfrm>
          <a:prstGeom prst="roundRect">
            <a:avLst>
              <a:gd name="adj" fmla="val 2943"/>
            </a:avLst>
          </a:prstGeom>
          <a:solidFill>
            <a:srgbClr val="F1F5F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A91807-D652-4B0C-AD30-824483F43CB0}"/>
              </a:ext>
            </a:extLst>
          </p:cNvPr>
          <p:cNvSpPr/>
          <p:nvPr/>
        </p:nvSpPr>
        <p:spPr>
          <a:xfrm>
            <a:off x="5726113" y="2332038"/>
            <a:ext cx="942975" cy="21907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870F7D-F41E-4FE0-9BF1-211A6FA439D4}"/>
              </a:ext>
            </a:extLst>
          </p:cNvPr>
          <p:cNvSpPr/>
          <p:nvPr/>
        </p:nvSpPr>
        <p:spPr>
          <a:xfrm>
            <a:off x="10525125" y="2332038"/>
            <a:ext cx="781050" cy="219075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9224" name="Picture 8" descr="image.png">
            <a:extLst>
              <a:ext uri="{FF2B5EF4-FFF2-40B4-BE49-F238E27FC236}">
                <a16:creationId xmlns:a16="http://schemas.microsoft.com/office/drawing/2014/main" id="{960FEC20-A2A7-468A-85E3-560759669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774950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 descr="image.png">
            <a:extLst>
              <a:ext uri="{FF2B5EF4-FFF2-40B4-BE49-F238E27FC236}">
                <a16:creationId xmlns:a16="http://schemas.microsoft.com/office/drawing/2014/main" id="{23C31629-EB7E-4BB0-B184-C8DD83EF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3279775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0" descr="image.png">
            <a:extLst>
              <a:ext uri="{FF2B5EF4-FFF2-40B4-BE49-F238E27FC236}">
                <a16:creationId xmlns:a16="http://schemas.microsoft.com/office/drawing/2014/main" id="{BF1489C7-86FD-49A9-A89E-FDEA151C7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3784600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Picture 11" descr="image.png">
            <a:extLst>
              <a:ext uri="{FF2B5EF4-FFF2-40B4-BE49-F238E27FC236}">
                <a16:creationId xmlns:a16="http://schemas.microsoft.com/office/drawing/2014/main" id="{C345CA34-CCB1-498E-94D1-BA8CA07AE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4289425"/>
            <a:ext cx="133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12" descr="image.png">
            <a:extLst>
              <a:ext uri="{FF2B5EF4-FFF2-40B4-BE49-F238E27FC236}">
                <a16:creationId xmlns:a16="http://schemas.microsoft.com/office/drawing/2014/main" id="{DE1F6BDC-3A86-437B-B2B3-C84B28F6D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138" y="2774950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13" descr="image.png">
            <a:extLst>
              <a:ext uri="{FF2B5EF4-FFF2-40B4-BE49-F238E27FC236}">
                <a16:creationId xmlns:a16="http://schemas.microsoft.com/office/drawing/2014/main" id="{B4E17C69-A52A-4D86-B775-B700A4829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138" y="3298825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14" descr="image.png">
            <a:extLst>
              <a:ext uri="{FF2B5EF4-FFF2-40B4-BE49-F238E27FC236}">
                <a16:creationId xmlns:a16="http://schemas.microsoft.com/office/drawing/2014/main" id="{A2450D8D-6C87-4576-9CB8-EC07B6A2E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138" y="3822700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2796CE-C18D-42D7-AE35-3D253C26F10C}"/>
              </a:ext>
            </a:extLst>
          </p:cNvPr>
          <p:cNvSpPr txBox="1"/>
          <p:nvPr/>
        </p:nvSpPr>
        <p:spPr>
          <a:xfrm>
            <a:off x="10429875" y="376238"/>
            <a:ext cx="900113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9232" name="TextBox 16">
            <a:extLst>
              <a:ext uri="{FF2B5EF4-FFF2-40B4-BE49-F238E27FC236}">
                <a16:creationId xmlns:a16="http://schemas.microsoft.com/office/drawing/2014/main" id="{4AE41906-169A-4318-A301-6383E0783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Technical Requirements</a:t>
            </a:r>
          </a:p>
        </p:txBody>
      </p:sp>
      <p:sp>
        <p:nvSpPr>
          <p:cNvPr id="9233" name="TextBox 17">
            <a:extLst>
              <a:ext uri="{FF2B5EF4-FFF2-40B4-BE49-F238E27FC236}">
                <a16:creationId xmlns:a16="http://schemas.microsoft.com/office/drawing/2014/main" id="{8C95A104-F048-4BEB-9189-45E926067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422592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Breakdown of mandatory core features and optional enhancements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F62352-0895-45FA-80FB-92A13B2D3590}"/>
              </a:ext>
            </a:extLst>
          </p:cNvPr>
          <p:cNvSpPr txBox="1"/>
          <p:nvPr/>
        </p:nvSpPr>
        <p:spPr>
          <a:xfrm>
            <a:off x="609600" y="6477000"/>
            <a:ext cx="1944688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Technical Specifications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F69E9-745C-4F9F-A288-EF76FC57D410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</a:t>
            </a:r>
            <a:r>
              <a:rPr lang="de-DE" sz="975" dirty="0">
                <a:solidFill>
                  <a:srgbClr val="0F172A"/>
                </a:solidFill>
              </a:rPr>
              <a:t>8</a:t>
            </a:r>
            <a:endParaRPr sz="975" dirty="0">
              <a:solidFill>
                <a:srgbClr val="0F172A"/>
              </a:solidFill>
            </a:endParaRPr>
          </a:p>
        </p:txBody>
      </p:sp>
      <p:sp>
        <p:nvSpPr>
          <p:cNvPr id="9236" name="TextBox 21">
            <a:extLst>
              <a:ext uri="{FF2B5EF4-FFF2-40B4-BE49-F238E27FC236}">
                <a16:creationId xmlns:a16="http://schemas.microsoft.com/office/drawing/2014/main" id="{777E919E-34F2-4EF7-83C2-0FE098EC0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2327275"/>
            <a:ext cx="16367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500" b="1">
                <a:solidFill>
                  <a:srgbClr val="0F172A"/>
                </a:solidFill>
              </a:rPr>
              <a:t>MUST Requirements</a:t>
            </a:r>
          </a:p>
        </p:txBody>
      </p:sp>
      <p:sp>
        <p:nvSpPr>
          <p:cNvPr id="9237" name="TextBox 22">
            <a:extLst>
              <a:ext uri="{FF2B5EF4-FFF2-40B4-BE49-F238E27FC236}">
                <a16:creationId xmlns:a16="http://schemas.microsoft.com/office/drawing/2014/main" id="{824502E9-B939-4E54-9978-AE0553B59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363" y="2370138"/>
            <a:ext cx="84772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FFFFFF"/>
                </a:solidFill>
              </a:rPr>
              <a:t>MANDATORY</a:t>
            </a:r>
          </a:p>
        </p:txBody>
      </p:sp>
      <p:sp>
        <p:nvSpPr>
          <p:cNvPr id="9238" name="TextBox 23">
            <a:extLst>
              <a:ext uri="{FF2B5EF4-FFF2-40B4-BE49-F238E27FC236}">
                <a16:creationId xmlns:a16="http://schemas.microsoft.com/office/drawing/2014/main" id="{B10B33A6-D305-4D02-B5EA-3557EFC05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0138" y="2327275"/>
            <a:ext cx="15049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500" b="1">
                <a:solidFill>
                  <a:srgbClr val="334155"/>
                </a:solidFill>
              </a:rPr>
              <a:t>CAN Requirements</a:t>
            </a:r>
          </a:p>
        </p:txBody>
      </p:sp>
      <p:sp>
        <p:nvSpPr>
          <p:cNvPr id="9239" name="TextBox 24">
            <a:extLst>
              <a:ext uri="{FF2B5EF4-FFF2-40B4-BE49-F238E27FC236}">
                <a16:creationId xmlns:a16="http://schemas.microsoft.com/office/drawing/2014/main" id="{3C844134-9A6F-44D6-9F81-FEA5AEC8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75" y="2370138"/>
            <a:ext cx="6858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90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388417-CF3B-4613-8189-4E6DBB5E9E75}"/>
              </a:ext>
            </a:extLst>
          </p:cNvPr>
          <p:cNvSpPr txBox="1"/>
          <p:nvPr/>
        </p:nvSpPr>
        <p:spPr>
          <a:xfrm>
            <a:off x="1133475" y="2746375"/>
            <a:ext cx="3495675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0F172A"/>
                </a:solidFill>
              </a:rPr>
              <a:t>Sensor Hardware Hookup: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1BF3A2-9097-4148-8842-59FE216A64A6}"/>
              </a:ext>
            </a:extLst>
          </p:cNvPr>
          <p:cNvSpPr txBox="1"/>
          <p:nvPr/>
        </p:nvSpPr>
        <p:spPr>
          <a:xfrm>
            <a:off x="1133475" y="3251200"/>
            <a:ext cx="3638550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0F172A"/>
                </a:solidFill>
              </a:rPr>
              <a:t>Local Web-GUI &amp; Display: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1F849C-BAD5-44F8-A63C-1563EF721951}"/>
              </a:ext>
            </a:extLst>
          </p:cNvPr>
          <p:cNvSpPr txBox="1"/>
          <p:nvPr/>
        </p:nvSpPr>
        <p:spPr>
          <a:xfrm>
            <a:off x="1133475" y="3756025"/>
            <a:ext cx="3514725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0F172A"/>
                </a:solidFill>
              </a:rPr>
              <a:t>External API Integration: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B75355-A6DF-4F6A-8E93-A39932559BA1}"/>
              </a:ext>
            </a:extLst>
          </p:cNvPr>
          <p:cNvSpPr txBox="1"/>
          <p:nvPr/>
        </p:nvSpPr>
        <p:spPr>
          <a:xfrm>
            <a:off x="1133475" y="4260850"/>
            <a:ext cx="3714750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0F172A"/>
                </a:solidFill>
              </a:rPr>
              <a:t>VM Project Portal: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5652B0-D52A-481B-9F48-57088800AB49}"/>
              </a:ext>
            </a:extLst>
          </p:cNvPr>
          <p:cNvSpPr txBox="1"/>
          <p:nvPr/>
        </p:nvSpPr>
        <p:spPr>
          <a:xfrm>
            <a:off x="7716838" y="2746375"/>
            <a:ext cx="3457575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1E293B"/>
                </a:solidFill>
              </a:rPr>
              <a:t>Telegram Alerts: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DCC6F0-7F74-4582-BB5D-088B0044F67D}"/>
              </a:ext>
            </a:extLst>
          </p:cNvPr>
          <p:cNvSpPr txBox="1"/>
          <p:nvPr/>
        </p:nvSpPr>
        <p:spPr>
          <a:xfrm>
            <a:off x="7716838" y="3270250"/>
            <a:ext cx="3333750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125" b="1" dirty="0">
                <a:solidFill>
                  <a:srgbClr val="1E293B"/>
                </a:solidFill>
              </a:rPr>
              <a:t>Smartphone </a:t>
            </a:r>
            <a:r>
              <a:rPr lang="de-DE" sz="1125" b="1" dirty="0" err="1">
                <a:solidFill>
                  <a:srgbClr val="1E293B"/>
                </a:solidFill>
              </a:rPr>
              <a:t>Webview</a:t>
            </a:r>
            <a:r>
              <a:rPr lang="de-DE" sz="1125" b="1" dirty="0">
                <a:solidFill>
                  <a:srgbClr val="1E293B"/>
                </a:solidFill>
              </a:rPr>
              <a:t> </a:t>
            </a:r>
            <a:endParaRPr sz="1125" b="1" dirty="0">
              <a:solidFill>
                <a:srgbClr val="1E293B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8D58A-850D-48A3-A379-61F600492B79}"/>
              </a:ext>
            </a:extLst>
          </p:cNvPr>
          <p:cNvSpPr txBox="1"/>
          <p:nvPr/>
        </p:nvSpPr>
        <p:spPr>
          <a:xfrm>
            <a:off x="7716838" y="3794125"/>
            <a:ext cx="2638425" cy="173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1E293B"/>
                </a:solidFill>
              </a:rPr>
              <a:t>Visual LED Indicator: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4249DE-0E3A-46EC-AC47-8077A9A7C4C3}"/>
              </a:ext>
            </a:extLst>
          </p:cNvPr>
          <p:cNvSpPr txBox="1"/>
          <p:nvPr/>
        </p:nvSpPr>
        <p:spPr>
          <a:xfrm>
            <a:off x="1133475" y="2955925"/>
            <a:ext cx="2968625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BME680 wired to Raspberry Pi for continuous reading.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40EC35-BAC7-40EA-B13C-F354AB2D85CF}"/>
              </a:ext>
            </a:extLst>
          </p:cNvPr>
          <p:cNvSpPr txBox="1"/>
          <p:nvPr/>
        </p:nvSpPr>
        <p:spPr>
          <a:xfrm>
            <a:off x="1133475" y="3460750"/>
            <a:ext cx="3100388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Live presentation on 7-inch touch screen via local server.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1DF8A1-CBF7-4D88-8FF9-AA77FA7AC7C0}"/>
              </a:ext>
            </a:extLst>
          </p:cNvPr>
          <p:cNvSpPr txBox="1"/>
          <p:nvPr/>
        </p:nvSpPr>
        <p:spPr>
          <a:xfrm>
            <a:off x="1133475" y="3965575"/>
            <a:ext cx="2976563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Fetch 3-day weather forecast using </a:t>
            </a:r>
            <a:r>
              <a:rPr sz="1050" dirty="0" err="1">
                <a:solidFill>
                  <a:srgbClr val="475569"/>
                </a:solidFill>
              </a:rPr>
              <a:t>OpenWeather</a:t>
            </a:r>
            <a:r>
              <a:rPr sz="1050" dirty="0">
                <a:solidFill>
                  <a:srgbClr val="475569"/>
                </a:solidFill>
              </a:rPr>
              <a:t> API.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4B6E12-1B1C-461A-AC8C-9BB3F919EA85}"/>
              </a:ext>
            </a:extLst>
          </p:cNvPr>
          <p:cNvSpPr txBox="1"/>
          <p:nvPr/>
        </p:nvSpPr>
        <p:spPr>
          <a:xfrm>
            <a:off x="1133475" y="4470400"/>
            <a:ext cx="3214688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Documentation, hardware introduction, and admin guides.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06FF1D-6F07-479A-8899-866E66D4088A}"/>
              </a:ext>
            </a:extLst>
          </p:cNvPr>
          <p:cNvSpPr txBox="1"/>
          <p:nvPr/>
        </p:nvSpPr>
        <p:spPr>
          <a:xfrm>
            <a:off x="7716838" y="2955925"/>
            <a:ext cx="2982912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Automated storm and extreme temperature warnings.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AE7E9-B95F-4065-9117-ED5F0951ED94}"/>
              </a:ext>
            </a:extLst>
          </p:cNvPr>
          <p:cNvSpPr txBox="1"/>
          <p:nvPr/>
        </p:nvSpPr>
        <p:spPr>
          <a:xfrm>
            <a:off x="7716838" y="3479800"/>
            <a:ext cx="2946400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50" dirty="0">
                <a:solidFill>
                  <a:srgbClr val="475569"/>
                </a:solidFill>
              </a:rPr>
              <a:t>A </a:t>
            </a:r>
            <a:r>
              <a:rPr lang="de-DE" sz="1050" dirty="0" err="1">
                <a:solidFill>
                  <a:srgbClr val="475569"/>
                </a:solidFill>
              </a:rPr>
              <a:t>Webview</a:t>
            </a:r>
            <a:r>
              <a:rPr lang="de-DE" sz="1050" dirty="0">
                <a:solidFill>
                  <a:srgbClr val="475569"/>
                </a:solidFill>
              </a:rPr>
              <a:t> </a:t>
            </a:r>
            <a:r>
              <a:rPr lang="de-DE" sz="1050" dirty="0" err="1">
                <a:solidFill>
                  <a:srgbClr val="475569"/>
                </a:solidFill>
              </a:rPr>
              <a:t>of</a:t>
            </a:r>
            <a:r>
              <a:rPr lang="de-DE" sz="1050" dirty="0">
                <a:solidFill>
                  <a:srgbClr val="475569"/>
                </a:solidFill>
              </a:rPr>
              <a:t> </a:t>
            </a:r>
            <a:r>
              <a:rPr lang="de-DE" sz="1050" dirty="0" err="1">
                <a:solidFill>
                  <a:srgbClr val="475569"/>
                </a:solidFill>
              </a:rPr>
              <a:t>the</a:t>
            </a:r>
            <a:r>
              <a:rPr lang="de-DE" sz="1050" dirty="0">
                <a:solidFill>
                  <a:srgbClr val="475569"/>
                </a:solidFill>
              </a:rPr>
              <a:t> Forecast Interface </a:t>
            </a:r>
            <a:r>
              <a:rPr lang="de-DE" sz="1050" dirty="0" err="1">
                <a:solidFill>
                  <a:srgbClr val="475569"/>
                </a:solidFill>
              </a:rPr>
              <a:t>for</a:t>
            </a:r>
            <a:r>
              <a:rPr lang="de-DE" sz="1050" dirty="0">
                <a:solidFill>
                  <a:srgbClr val="475569"/>
                </a:solidFill>
              </a:rPr>
              <a:t> Smartphones</a:t>
            </a:r>
            <a:endParaRPr sz="1050" dirty="0">
              <a:solidFill>
                <a:srgbClr val="475569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465E0C-E0D0-477F-9D1B-69DB0D24CC5B}"/>
              </a:ext>
            </a:extLst>
          </p:cNvPr>
          <p:cNvSpPr txBox="1"/>
          <p:nvPr/>
        </p:nvSpPr>
        <p:spPr>
          <a:xfrm>
            <a:off x="7716838" y="4003675"/>
            <a:ext cx="2189162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Physical air quality light feedback signal.</a:t>
            </a:r>
          </a:p>
        </p:txBody>
      </p:sp>
      <p:pic>
        <p:nvPicPr>
          <p:cNvPr id="9254" name="Picture 2">
            <a:extLst>
              <a:ext uri="{FF2B5EF4-FFF2-40B4-BE49-F238E27FC236}">
                <a16:creationId xmlns:a16="http://schemas.microsoft.com/office/drawing/2014/main" id="{E0FB45E4-2ED6-47FE-9FF6-5F01977ED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D63E63-67F1-4A02-A1F2-379D184CE938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D20AA-5DFB-4724-A539-4735FE228348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32A6DA-DDB0-4BD8-B0C5-3068126ABFFE}"/>
              </a:ext>
            </a:extLst>
          </p:cNvPr>
          <p:cNvSpPr/>
          <p:nvPr/>
        </p:nvSpPr>
        <p:spPr>
          <a:xfrm>
            <a:off x="609600" y="2725738"/>
            <a:ext cx="2443163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F6A3B2-07D2-4BB4-A044-5DA3F5193798}"/>
              </a:ext>
            </a:extLst>
          </p:cNvPr>
          <p:cNvSpPr/>
          <p:nvPr/>
        </p:nvSpPr>
        <p:spPr>
          <a:xfrm>
            <a:off x="3452813" y="2801938"/>
            <a:ext cx="2443162" cy="11430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A26003-3B63-488D-8643-4C89B491E95B}"/>
              </a:ext>
            </a:extLst>
          </p:cNvPr>
          <p:cNvSpPr/>
          <p:nvPr/>
        </p:nvSpPr>
        <p:spPr>
          <a:xfrm>
            <a:off x="6296025" y="2801938"/>
            <a:ext cx="2443163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7CCA47-8EC5-4E2C-89C9-F3B6EACF24D6}"/>
              </a:ext>
            </a:extLst>
          </p:cNvPr>
          <p:cNvSpPr/>
          <p:nvPr/>
        </p:nvSpPr>
        <p:spPr>
          <a:xfrm>
            <a:off x="9139238" y="2801938"/>
            <a:ext cx="2443162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9FC90C-6B3C-4F60-90AE-AD05FFB00209}"/>
              </a:ext>
            </a:extLst>
          </p:cNvPr>
          <p:cNvSpPr/>
          <p:nvPr/>
        </p:nvSpPr>
        <p:spPr>
          <a:xfrm>
            <a:off x="609600" y="4325938"/>
            <a:ext cx="539115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0D086C3-65E2-4A8B-84EC-2CC18103C288}"/>
              </a:ext>
            </a:extLst>
          </p:cNvPr>
          <p:cNvSpPr/>
          <p:nvPr/>
        </p:nvSpPr>
        <p:spPr>
          <a:xfrm>
            <a:off x="6191250" y="4325938"/>
            <a:ext cx="539115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43191A-6DB0-4087-AD90-C09198FF11D7}"/>
              </a:ext>
            </a:extLst>
          </p:cNvPr>
          <p:cNvSpPr/>
          <p:nvPr/>
        </p:nvSpPr>
        <p:spPr>
          <a:xfrm>
            <a:off x="609600" y="4325938"/>
            <a:ext cx="38100" cy="933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47758-1FCA-4108-BDEE-3D440F9AFE3A}"/>
              </a:ext>
            </a:extLst>
          </p:cNvPr>
          <p:cNvSpPr/>
          <p:nvPr/>
        </p:nvSpPr>
        <p:spPr>
          <a:xfrm>
            <a:off x="6191250" y="4325938"/>
            <a:ext cx="38100" cy="933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10252" name="Picture 12" descr="image.png">
            <a:extLst>
              <a:ext uri="{FF2B5EF4-FFF2-40B4-BE49-F238E27FC236}">
                <a16:creationId xmlns:a16="http://schemas.microsoft.com/office/drawing/2014/main" id="{284154E8-C865-4FA1-A0A7-504F3627C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3278188"/>
            <a:ext cx="1714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3" name="Picture 13" descr="image.png">
            <a:extLst>
              <a:ext uri="{FF2B5EF4-FFF2-40B4-BE49-F238E27FC236}">
                <a16:creationId xmlns:a16="http://schemas.microsoft.com/office/drawing/2014/main" id="{A314B659-5AB9-463A-8B82-7964901E2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5" y="3278188"/>
            <a:ext cx="1714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4" name="Picture 14" descr="image.png">
            <a:extLst>
              <a:ext uri="{FF2B5EF4-FFF2-40B4-BE49-F238E27FC236}">
                <a16:creationId xmlns:a16="http://schemas.microsoft.com/office/drawing/2014/main" id="{248DE171-BC5E-406F-A424-FA9BC0569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88" y="3278188"/>
            <a:ext cx="1714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15" descr="image.png">
            <a:extLst>
              <a:ext uri="{FF2B5EF4-FFF2-40B4-BE49-F238E27FC236}">
                <a16:creationId xmlns:a16="http://schemas.microsoft.com/office/drawing/2014/main" id="{25AB64A2-D4AA-4ECB-BABF-51ED02BA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8" y="2935288"/>
            <a:ext cx="304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6" name="Picture 16" descr="image.png">
            <a:extLst>
              <a:ext uri="{FF2B5EF4-FFF2-40B4-BE49-F238E27FC236}">
                <a16:creationId xmlns:a16="http://schemas.microsoft.com/office/drawing/2014/main" id="{61E195B1-0C30-4BA3-A929-DD884D7EC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825" y="3011488"/>
            <a:ext cx="2095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7" name="Picture 17" descr="image.png">
            <a:extLst>
              <a:ext uri="{FF2B5EF4-FFF2-40B4-BE49-F238E27FC236}">
                <a16:creationId xmlns:a16="http://schemas.microsoft.com/office/drawing/2014/main" id="{222C479C-58F0-43BE-9D97-F3B4894BB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25" y="3011488"/>
            <a:ext cx="3333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8" name="Picture 18" descr="image.png">
            <a:extLst>
              <a:ext uri="{FF2B5EF4-FFF2-40B4-BE49-F238E27FC236}">
                <a16:creationId xmlns:a16="http://schemas.microsoft.com/office/drawing/2014/main" id="{8CFF50D1-78E0-44F4-87F7-FADFBE124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25" y="3011488"/>
            <a:ext cx="304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D1BFD40-51CE-4019-AD7A-069E156EDFF9}"/>
              </a:ext>
            </a:extLst>
          </p:cNvPr>
          <p:cNvSpPr txBox="1"/>
          <p:nvPr/>
        </p:nvSpPr>
        <p:spPr>
          <a:xfrm>
            <a:off x="10458450" y="376238"/>
            <a:ext cx="847725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ARCHITECTURE</a:t>
            </a:r>
          </a:p>
        </p:txBody>
      </p:sp>
      <p:sp>
        <p:nvSpPr>
          <p:cNvPr id="10260" name="TextBox 20">
            <a:extLst>
              <a:ext uri="{FF2B5EF4-FFF2-40B4-BE49-F238E27FC236}">
                <a16:creationId xmlns:a16="http://schemas.microsoft.com/office/drawing/2014/main" id="{93491CC2-F841-4D13-B2BE-D397030E2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1158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System Architecture &amp; Flow</a:t>
            </a:r>
          </a:p>
        </p:txBody>
      </p:sp>
      <p:sp>
        <p:nvSpPr>
          <p:cNvPr id="10261" name="TextBox 21">
            <a:extLst>
              <a:ext uri="{FF2B5EF4-FFF2-40B4-BE49-F238E27FC236}">
                <a16:creationId xmlns:a16="http://schemas.microsoft.com/office/drawing/2014/main" id="{30A4F8CC-5359-4885-8D1A-3519FE840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41021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>
                <a:solidFill>
                  <a:srgbClr val="64748B"/>
                </a:solidFill>
              </a:rPr>
              <a:t>Data pipeline from hardware sensors to touchscreen presentation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8FB396-0409-4893-95A1-612E560871E7}"/>
              </a:ext>
            </a:extLst>
          </p:cNvPr>
          <p:cNvSpPr txBox="1"/>
          <p:nvPr/>
        </p:nvSpPr>
        <p:spPr>
          <a:xfrm>
            <a:off x="609600" y="6477000"/>
            <a:ext cx="1768475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 System Architecture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0732F6-7223-4D03-90BA-B9FF325CEB5A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0</a:t>
            </a:r>
            <a:r>
              <a:rPr lang="de-DE" sz="975" dirty="0">
                <a:solidFill>
                  <a:srgbClr val="0F172A"/>
                </a:solidFill>
              </a:rPr>
              <a:t>9</a:t>
            </a:r>
            <a:endParaRPr sz="975" dirty="0">
              <a:solidFill>
                <a:srgbClr val="0F172A"/>
              </a:solidFill>
            </a:endParaRPr>
          </a:p>
        </p:txBody>
      </p:sp>
      <p:sp>
        <p:nvSpPr>
          <p:cNvPr id="10264" name="TextBox 25">
            <a:extLst>
              <a:ext uri="{FF2B5EF4-FFF2-40B4-BE49-F238E27FC236}">
                <a16:creationId xmlns:a16="http://schemas.microsoft.com/office/drawing/2014/main" id="{FCB178CA-DA80-443E-8233-6274A3DB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278188"/>
            <a:ext cx="9985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de-DE" altLang="de-DE" sz="1200" b="1">
                <a:solidFill>
                  <a:srgbClr val="0F172A"/>
                </a:solidFill>
              </a:rPr>
              <a:t>BME680 Sensor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4D8887-8165-48CB-BA89-0FFD0169A4F3}"/>
              </a:ext>
            </a:extLst>
          </p:cNvPr>
          <p:cNvSpPr txBox="1"/>
          <p:nvPr/>
        </p:nvSpPr>
        <p:spPr>
          <a:xfrm>
            <a:off x="566738" y="3506788"/>
            <a:ext cx="2528887" cy="1508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64748B"/>
                </a:solidFill>
              </a:rPr>
              <a:t>Temp, Air Quality, Humidity, Pressure</a:t>
            </a:r>
          </a:p>
        </p:txBody>
      </p:sp>
      <p:sp>
        <p:nvSpPr>
          <p:cNvPr id="10266" name="TextBox 27">
            <a:extLst>
              <a:ext uri="{FF2B5EF4-FFF2-40B4-BE49-F238E27FC236}">
                <a16:creationId xmlns:a16="http://schemas.microsoft.com/office/drawing/2014/main" id="{9F6DC464-F118-4C2F-B058-2979CC3BF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963" y="3354388"/>
            <a:ext cx="80486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de-DE" altLang="de-DE" sz="1200" b="1">
                <a:solidFill>
                  <a:srgbClr val="991B1B"/>
                </a:solidFill>
              </a:rPr>
              <a:t>Raspberry Pi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6079AD-7BE7-4CEF-9BB6-ABB9AD7813A9}"/>
              </a:ext>
            </a:extLst>
          </p:cNvPr>
          <p:cNvSpPr txBox="1"/>
          <p:nvPr/>
        </p:nvSpPr>
        <p:spPr>
          <a:xfrm>
            <a:off x="3892550" y="3582988"/>
            <a:ext cx="1563688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7F1D1D"/>
                </a:solidFill>
              </a:rPr>
              <a:t>Data Processing &amp; Local Server</a:t>
            </a:r>
          </a:p>
        </p:txBody>
      </p:sp>
      <p:sp>
        <p:nvSpPr>
          <p:cNvPr id="10268" name="TextBox 29">
            <a:extLst>
              <a:ext uri="{FF2B5EF4-FFF2-40B4-BE49-F238E27FC236}">
                <a16:creationId xmlns:a16="http://schemas.microsoft.com/office/drawing/2014/main" id="{58E43C4C-8E8F-4548-BB66-01B07757B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138" y="3354388"/>
            <a:ext cx="11509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de-DE" altLang="de-DE" sz="1200" b="1">
                <a:solidFill>
                  <a:srgbClr val="0F172A"/>
                </a:solidFill>
              </a:rPr>
              <a:t>OpenWeather API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63C0EC-37B2-438D-8C46-67EF3ADA39F7}"/>
              </a:ext>
            </a:extLst>
          </p:cNvPr>
          <p:cNvSpPr txBox="1"/>
          <p:nvPr/>
        </p:nvSpPr>
        <p:spPr>
          <a:xfrm>
            <a:off x="6783388" y="3582988"/>
            <a:ext cx="1468437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64748B"/>
                </a:solidFill>
              </a:rPr>
              <a:t>External 3-Day Forecast Data</a:t>
            </a:r>
          </a:p>
        </p:txBody>
      </p:sp>
      <p:sp>
        <p:nvSpPr>
          <p:cNvPr id="10270" name="TextBox 31">
            <a:extLst>
              <a:ext uri="{FF2B5EF4-FFF2-40B4-BE49-F238E27FC236}">
                <a16:creationId xmlns:a16="http://schemas.microsoft.com/office/drawing/2014/main" id="{E5964AF1-AD10-4CB1-B12F-78E1C5F21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4100" y="3354388"/>
            <a:ext cx="83343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de-DE" altLang="de-DE" sz="1200" b="1">
                <a:solidFill>
                  <a:srgbClr val="0F172A"/>
                </a:solidFill>
              </a:rPr>
              <a:t>7" Touch GUI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50E31A-1665-42D8-A6E8-383116AC048E}"/>
              </a:ext>
            </a:extLst>
          </p:cNvPr>
          <p:cNvSpPr txBox="1"/>
          <p:nvPr/>
        </p:nvSpPr>
        <p:spPr>
          <a:xfrm>
            <a:off x="9637713" y="3582988"/>
            <a:ext cx="1446212" cy="150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64748B"/>
                </a:solidFill>
              </a:rPr>
              <a:t>Interactive Live Visualization</a:t>
            </a:r>
          </a:p>
        </p:txBody>
      </p:sp>
      <p:sp>
        <p:nvSpPr>
          <p:cNvPr id="10272" name="TextBox 33">
            <a:extLst>
              <a:ext uri="{FF2B5EF4-FFF2-40B4-BE49-F238E27FC236}">
                <a16:creationId xmlns:a16="http://schemas.microsoft.com/office/drawing/2014/main" id="{9C764A92-D860-4832-9E98-79FDD351B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16438"/>
            <a:ext cx="17875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 b="1">
                <a:solidFill>
                  <a:srgbClr val="0F172A"/>
                </a:solidFill>
              </a:rPr>
              <a:t>Continuous Interval Logging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76ABD-347C-44D6-B2DC-081E2A774D29}"/>
              </a:ext>
            </a:extLst>
          </p:cNvPr>
          <p:cNvSpPr txBox="1"/>
          <p:nvPr/>
        </p:nvSpPr>
        <p:spPr>
          <a:xfrm>
            <a:off x="838200" y="4745038"/>
            <a:ext cx="5067300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Sensors read environment at fixed intervals and store values locally for analysis.</a:t>
            </a:r>
          </a:p>
        </p:txBody>
      </p:sp>
      <p:sp>
        <p:nvSpPr>
          <p:cNvPr id="10274" name="TextBox 35">
            <a:extLst>
              <a:ext uri="{FF2B5EF4-FFF2-40B4-BE49-F238E27FC236}">
                <a16:creationId xmlns:a16="http://schemas.microsoft.com/office/drawing/2014/main" id="{7C440E2B-C9AE-4D4E-B2DF-00D02889F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850" y="4516438"/>
            <a:ext cx="2057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de-DE" altLang="de-DE" sz="1200" b="1">
                <a:solidFill>
                  <a:srgbClr val="0F172A"/>
                </a:solidFill>
              </a:rPr>
              <a:t>Documentation Virtual Machine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3FD95-381D-4624-9427-271018EF8947}"/>
              </a:ext>
            </a:extLst>
          </p:cNvPr>
          <p:cNvSpPr txBox="1"/>
          <p:nvPr/>
        </p:nvSpPr>
        <p:spPr>
          <a:xfrm>
            <a:off x="6419850" y="4745038"/>
            <a:ext cx="5067300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475569"/>
                </a:solidFill>
              </a:rPr>
              <a:t>Independent VM web server serving administrator setup guides and system manuals.</a:t>
            </a:r>
          </a:p>
        </p:txBody>
      </p:sp>
      <p:pic>
        <p:nvPicPr>
          <p:cNvPr id="10276" name="Picture 2">
            <a:extLst>
              <a:ext uri="{FF2B5EF4-FFF2-40B4-BE49-F238E27FC236}">
                <a16:creationId xmlns:a16="http://schemas.microsoft.com/office/drawing/2014/main" id="{70A0121E-2EE6-40CF-BB7E-DDA37B858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B74481-1D49-4683-BA29-F4405FECD1A4}"/>
              </a:ext>
            </a:extLst>
          </p:cNvPr>
          <p:cNvSpPr/>
          <p:nvPr/>
        </p:nvSpPr>
        <p:spPr>
          <a:xfrm>
            <a:off x="0" y="6315075"/>
            <a:ext cx="121920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ABC15-127C-43BB-9414-B52C56DA14D1}"/>
              </a:ext>
            </a:extLst>
          </p:cNvPr>
          <p:cNvSpPr/>
          <p:nvPr/>
        </p:nvSpPr>
        <p:spPr>
          <a:xfrm>
            <a:off x="0" y="6315075"/>
            <a:ext cx="12192000" cy="9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56C6D-6BED-4042-A1F0-E9C76C1CC7B0}"/>
              </a:ext>
            </a:extLst>
          </p:cNvPr>
          <p:cNvSpPr txBox="1"/>
          <p:nvPr/>
        </p:nvSpPr>
        <p:spPr>
          <a:xfrm>
            <a:off x="10429875" y="376238"/>
            <a:ext cx="900113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b="1" dirty="0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11269" name="TextBox 16">
            <a:extLst>
              <a:ext uri="{FF2B5EF4-FFF2-40B4-BE49-F238E27FC236}">
                <a16:creationId xmlns:a16="http://schemas.microsoft.com/office/drawing/2014/main" id="{90408D7F-F247-485C-A405-2DAC97C7E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52525"/>
            <a:ext cx="7254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875"/>
              </a:lnSpc>
            </a:pPr>
            <a:r>
              <a:rPr lang="de-DE" altLang="de-DE" sz="2400" b="1">
                <a:solidFill>
                  <a:srgbClr val="0F172A"/>
                </a:solidFill>
                <a:latin typeface="Montserrat" panose="00000500000000000000" pitchFamily="2" charset="0"/>
              </a:rPr>
              <a:t>Cost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E3480E-CF2F-40BA-8BC5-6AFD92F8A82D}"/>
              </a:ext>
            </a:extLst>
          </p:cNvPr>
          <p:cNvSpPr txBox="1"/>
          <p:nvPr/>
        </p:nvSpPr>
        <p:spPr>
          <a:xfrm>
            <a:off x="609600" y="6477000"/>
            <a:ext cx="935038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 err="1">
                <a:solidFill>
                  <a:srgbClr val="0F172A"/>
                </a:solidFill>
              </a:rPr>
              <a:t>WeatherLab</a:t>
            </a:r>
            <a:r>
              <a:rPr sz="975" dirty="0">
                <a:solidFill>
                  <a:srgbClr val="0F172A"/>
                </a:solidFill>
              </a:rPr>
              <a:t> |</a:t>
            </a:r>
            <a:r>
              <a:rPr lang="de-DE" sz="975" dirty="0" err="1">
                <a:solidFill>
                  <a:srgbClr val="0F172A"/>
                </a:solidFill>
              </a:rPr>
              <a:t>Cost</a:t>
            </a:r>
            <a:endParaRPr sz="975" dirty="0">
              <a:solidFill>
                <a:srgbClr val="0F172A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534187-3D70-48F3-9AA4-A5C033EB3B3F}"/>
              </a:ext>
            </a:extLst>
          </p:cNvPr>
          <p:cNvSpPr txBox="1"/>
          <p:nvPr/>
        </p:nvSpPr>
        <p:spPr>
          <a:xfrm>
            <a:off x="11106150" y="6477000"/>
            <a:ext cx="400050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0F172A"/>
                </a:solidFill>
              </a:rPr>
              <a:t>Slide </a:t>
            </a:r>
            <a:r>
              <a:rPr lang="de-DE" sz="975" dirty="0">
                <a:solidFill>
                  <a:srgbClr val="0F172A"/>
                </a:solidFill>
              </a:rPr>
              <a:t>1</a:t>
            </a:r>
            <a:r>
              <a:rPr sz="975" dirty="0">
                <a:solidFill>
                  <a:srgbClr val="0F172A"/>
                </a:solidFill>
              </a:rPr>
              <a:t>0</a:t>
            </a:r>
          </a:p>
        </p:txBody>
      </p:sp>
      <p:pic>
        <p:nvPicPr>
          <p:cNvPr id="11272" name="Picture 2">
            <a:extLst>
              <a:ext uri="{FF2B5EF4-FFF2-40B4-BE49-F238E27FC236}">
                <a16:creationId xmlns:a16="http://schemas.microsoft.com/office/drawing/2014/main" id="{D5582156-8519-4BE8-88BB-1BD6A3343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23637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CB5600C5-A8F8-4D65-B106-7626B000C4B9}"/>
              </a:ext>
            </a:extLst>
          </p:cNvPr>
          <p:cNvSpPr/>
          <p:nvPr/>
        </p:nvSpPr>
        <p:spPr>
          <a:xfrm>
            <a:off x="609600" y="1965325"/>
            <a:ext cx="6889750" cy="3881438"/>
          </a:xfrm>
          <a:prstGeom prst="roundRect">
            <a:avLst>
              <a:gd name="adj" fmla="val 29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7" name="Rounded Rectangle 4">
            <a:extLst>
              <a:ext uri="{FF2B5EF4-FFF2-40B4-BE49-F238E27FC236}">
                <a16:creationId xmlns:a16="http://schemas.microsoft.com/office/drawing/2014/main" id="{4642D47B-2E54-49E6-A461-1B786F6A4CD6}"/>
              </a:ext>
            </a:extLst>
          </p:cNvPr>
          <p:cNvSpPr/>
          <p:nvPr/>
        </p:nvSpPr>
        <p:spPr>
          <a:xfrm>
            <a:off x="7773988" y="1965325"/>
            <a:ext cx="3808412" cy="3881438"/>
          </a:xfrm>
          <a:prstGeom prst="roundRect">
            <a:avLst>
              <a:gd name="adj" fmla="val 2943"/>
            </a:avLst>
          </a:prstGeom>
          <a:solidFill>
            <a:srgbClr val="F1F5F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275" name="TextBox 17">
            <a:extLst>
              <a:ext uri="{FF2B5EF4-FFF2-40B4-BE49-F238E27FC236}">
                <a16:creationId xmlns:a16="http://schemas.microsoft.com/office/drawing/2014/main" id="{9C2234C1-28C6-4582-81B7-642937A00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8125"/>
            <a:ext cx="68897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de-DE" sz="1200">
                <a:solidFill>
                  <a:srgbClr val="64748B"/>
                </a:solidFill>
              </a:rPr>
              <a:t>Material and personnel costs of the WeatherLab project</a:t>
            </a:r>
          </a:p>
        </p:txBody>
      </p:sp>
      <p:sp>
        <p:nvSpPr>
          <p:cNvPr id="11276" name="TextBox 201">
            <a:extLst>
              <a:ext uri="{FF2B5EF4-FFF2-40B4-BE49-F238E27FC236}">
                <a16:creationId xmlns:a16="http://schemas.microsoft.com/office/drawing/2014/main" id="{710C0A34-4838-40B8-A383-7F04A2239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2333625"/>
            <a:ext cx="32480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100" b="1">
                <a:solidFill>
                  <a:srgbClr val="64748B"/>
                </a:solidFill>
              </a:rPr>
              <a:t>MATERIAL COSTS</a:t>
            </a:r>
          </a:p>
        </p:txBody>
      </p:sp>
      <p:sp>
        <p:nvSpPr>
          <p:cNvPr id="11277" name="TextBox 202">
            <a:extLst>
              <a:ext uri="{FF2B5EF4-FFF2-40B4-BE49-F238E27FC236}">
                <a16:creationId xmlns:a16="http://schemas.microsoft.com/office/drawing/2014/main" id="{72388FB6-FE0C-4671-B9CD-951773A97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2582863"/>
            <a:ext cx="3248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800" b="1">
                <a:solidFill>
                  <a:srgbClr val="0F172A"/>
                </a:solidFill>
                <a:latin typeface="Montserrat" panose="00000500000000000000" pitchFamily="2" charset="0"/>
              </a:rPr>
              <a:t>€137.16</a:t>
            </a:r>
          </a:p>
        </p:txBody>
      </p:sp>
      <p:sp>
        <p:nvSpPr>
          <p:cNvPr id="11278" name="TextBox 203">
            <a:extLst>
              <a:ext uri="{FF2B5EF4-FFF2-40B4-BE49-F238E27FC236}">
                <a16:creationId xmlns:a16="http://schemas.microsoft.com/office/drawing/2014/main" id="{2B437F91-C6C8-4463-AC17-D6CF8E23C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3482975"/>
            <a:ext cx="32480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100" b="1">
                <a:solidFill>
                  <a:srgbClr val="64748B"/>
                </a:solidFill>
              </a:rPr>
              <a:t>PERSONNEL COSTS (FICTIONAL)</a:t>
            </a:r>
          </a:p>
        </p:txBody>
      </p:sp>
      <p:sp>
        <p:nvSpPr>
          <p:cNvPr id="11279" name="TextBox 204">
            <a:extLst>
              <a:ext uri="{FF2B5EF4-FFF2-40B4-BE49-F238E27FC236}">
                <a16:creationId xmlns:a16="http://schemas.microsoft.com/office/drawing/2014/main" id="{453C49D3-FD1E-4A8A-A12B-E9623C734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3733800"/>
            <a:ext cx="324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800" b="1">
                <a:solidFill>
                  <a:srgbClr val="0F172A"/>
                </a:solidFill>
                <a:latin typeface="Montserrat" panose="00000500000000000000" pitchFamily="2" charset="0"/>
              </a:rPr>
              <a:t>€3,000.00</a:t>
            </a:r>
          </a:p>
        </p:txBody>
      </p:sp>
      <p:sp>
        <p:nvSpPr>
          <p:cNvPr id="11280" name="TextBox 205">
            <a:extLst>
              <a:ext uri="{FF2B5EF4-FFF2-40B4-BE49-F238E27FC236}">
                <a16:creationId xmlns:a16="http://schemas.microsoft.com/office/drawing/2014/main" id="{51121236-FBDF-4FCA-A95C-DCC0DE22E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632325"/>
            <a:ext cx="32480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100" b="1">
                <a:solidFill>
                  <a:srgbClr val="64748B"/>
                </a:solidFill>
              </a:rPr>
              <a:t>TOTAL PROJECT COST</a:t>
            </a:r>
          </a:p>
        </p:txBody>
      </p:sp>
      <p:sp>
        <p:nvSpPr>
          <p:cNvPr id="11281" name="TextBox 206">
            <a:extLst>
              <a:ext uri="{FF2B5EF4-FFF2-40B4-BE49-F238E27FC236}">
                <a16:creationId xmlns:a16="http://schemas.microsoft.com/office/drawing/2014/main" id="{94ADA9A6-B9D0-41D1-8F78-2570348E1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883150"/>
            <a:ext cx="3248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2800" b="1">
                <a:solidFill>
                  <a:srgbClr val="EF4444"/>
                </a:solidFill>
                <a:latin typeface="Montserrat" panose="00000500000000000000" pitchFamily="2" charset="0"/>
              </a:rPr>
              <a:t>€3,137.16</a:t>
            </a:r>
          </a:p>
        </p:txBody>
      </p:sp>
      <p:graphicFrame>
        <p:nvGraphicFramePr>
          <p:cNvPr id="60" name="Cost Table">
            <a:extLst>
              <a:ext uri="{FF2B5EF4-FFF2-40B4-BE49-F238E27FC236}">
                <a16:creationId xmlns:a16="http://schemas.microsoft.com/office/drawing/2014/main" id="{2602F297-D9EE-4B08-8F4E-F625D201F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870645"/>
              </p:ext>
            </p:extLst>
          </p:nvPr>
        </p:nvGraphicFramePr>
        <p:xfrm>
          <a:off x="835025" y="2220913"/>
          <a:ext cx="6450013" cy="350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Raspberry Pi (provided)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€0.00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BME680 sensor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€26.29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7-inch touch monitor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€65.87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microSD card 256 GB (estimated)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€30.00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Power supply &amp; cables (estimated)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€15.00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Software &amp; services (OpenWeather Free, ProjectLibre, Teams)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€0.00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/>
                        </a:rPr>
                        <a:t>Total material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/>
                        </a:rPr>
                        <a:t>€137.16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34155"/>
                          </a:solidFill>
                          <a:latin typeface="Calibri"/>
                        </a:rPr>
                        <a:t>Personnel (5 people × 30 h × €20)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€3,000.00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cost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€3,137.16</a:t>
                      </a:r>
                    </a:p>
                  </a:txBody>
                  <a:tcPr marL="137160" marR="137160" marT="45726" marB="4572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 descr="image.png">
            <a:extLst>
              <a:ext uri="{FF2B5EF4-FFF2-40B4-BE49-F238E27FC236}">
                <a16:creationId xmlns:a16="http://schemas.microsoft.com/office/drawing/2014/main" id="{2B9EC671-6512-483F-B5CF-4E4A478FA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BB4F25-3EA9-4A20-BBCD-903D993C9EF5}"/>
              </a:ext>
            </a:extLst>
          </p:cNvPr>
          <p:cNvSpPr/>
          <p:nvPr/>
        </p:nvSpPr>
        <p:spPr>
          <a:xfrm>
            <a:off x="609600" y="5715000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C017A0-BF77-4738-A602-AE26C0B2278F}"/>
              </a:ext>
            </a:extLst>
          </p:cNvPr>
          <p:cNvSpPr/>
          <p:nvPr/>
        </p:nvSpPr>
        <p:spPr>
          <a:xfrm>
            <a:off x="5165725" y="4697413"/>
            <a:ext cx="5715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A537E5-A70B-4DB8-B3C0-58A087FF6935}"/>
              </a:ext>
            </a:extLst>
          </p:cNvPr>
          <p:cNvSpPr/>
          <p:nvPr/>
        </p:nvSpPr>
        <p:spPr>
          <a:xfrm>
            <a:off x="609600" y="57150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C680D-5DB3-4295-9401-4B1F52FB3D49}"/>
              </a:ext>
            </a:extLst>
          </p:cNvPr>
          <p:cNvSpPr txBox="1"/>
          <p:nvPr/>
        </p:nvSpPr>
        <p:spPr>
          <a:xfrm>
            <a:off x="10115550" y="638175"/>
            <a:ext cx="1203325" cy="161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050" dirty="0">
                <a:solidFill>
                  <a:srgbClr val="94A3B8"/>
                </a:solidFill>
              </a:rPr>
              <a:t>Class 4bITS | BS 2 Linz</a:t>
            </a:r>
          </a:p>
        </p:txBody>
      </p:sp>
      <p:sp>
        <p:nvSpPr>
          <p:cNvPr id="12295" name="TextBox 6">
            <a:extLst>
              <a:ext uri="{FF2B5EF4-FFF2-40B4-BE49-F238E27FC236}">
                <a16:creationId xmlns:a16="http://schemas.microsoft.com/office/drawing/2014/main" id="{08836582-F448-448A-8E7A-C96CCCC83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2792413"/>
            <a:ext cx="100012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de-DE" altLang="de-DE" sz="4200" b="1">
                <a:solidFill>
                  <a:srgbClr val="FFFFFF"/>
                </a:solidFill>
                <a:latin typeface="Montserrat" panose="00000500000000000000" pitchFamily="2" charset="0"/>
              </a:rPr>
              <a:t>Thank You for Your Attention!</a:t>
            </a:r>
          </a:p>
        </p:txBody>
      </p:sp>
      <p:sp>
        <p:nvSpPr>
          <p:cNvPr id="12296" name="TextBox 7">
            <a:extLst>
              <a:ext uri="{FF2B5EF4-FFF2-40B4-BE49-F238E27FC236}">
                <a16:creationId xmlns:a16="http://schemas.microsoft.com/office/drawing/2014/main" id="{7AEBD89E-798C-4D18-A6DB-D95C52970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4240213"/>
            <a:ext cx="18605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de-DE" altLang="de-DE" sz="1500" b="1">
                <a:solidFill>
                  <a:srgbClr val="EF4444"/>
                </a:solidFill>
              </a:rPr>
              <a:t>Questions &amp;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EAFEB-C739-4CCD-867B-7613F1B5E293}"/>
              </a:ext>
            </a:extLst>
          </p:cNvPr>
          <p:cNvSpPr txBox="1"/>
          <p:nvPr/>
        </p:nvSpPr>
        <p:spPr>
          <a:xfrm>
            <a:off x="609600" y="5953125"/>
            <a:ext cx="671513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94A3B8"/>
                </a:solidFill>
              </a:rPr>
              <a:t>Project 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F660D-B791-4F7F-A413-F2A34B5DD343}"/>
              </a:ext>
            </a:extLst>
          </p:cNvPr>
          <p:cNvSpPr txBox="1"/>
          <p:nvPr/>
        </p:nvSpPr>
        <p:spPr>
          <a:xfrm>
            <a:off x="609600" y="6143625"/>
            <a:ext cx="3422650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David S. | Andrea R. | Fabian S. | Julian W. | Matthias 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F6C02-C659-4909-AFE2-48BA03FFE470}"/>
              </a:ext>
            </a:extLst>
          </p:cNvPr>
          <p:cNvSpPr txBox="1"/>
          <p:nvPr/>
        </p:nvSpPr>
        <p:spPr>
          <a:xfrm>
            <a:off x="10602913" y="5953125"/>
            <a:ext cx="979487" cy="1508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975" dirty="0">
                <a:solidFill>
                  <a:srgbClr val="94A3B8"/>
                </a:solidFill>
              </a:rPr>
              <a:t>Project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1B954-6883-4B99-B74B-0DF3E99F1EBE}"/>
              </a:ext>
            </a:extLst>
          </p:cNvPr>
          <p:cNvSpPr txBox="1"/>
          <p:nvPr/>
        </p:nvSpPr>
        <p:spPr>
          <a:xfrm>
            <a:off x="9944100" y="6143625"/>
            <a:ext cx="1638300" cy="1730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125" b="1" dirty="0">
                <a:solidFill>
                  <a:srgbClr val="FFFFFF"/>
                </a:solidFill>
              </a:rPr>
              <a:t>BS 2 Linz - </a:t>
            </a:r>
            <a:r>
              <a:rPr sz="1125" b="1" dirty="0" err="1">
                <a:solidFill>
                  <a:srgbClr val="FFFFFF"/>
                </a:solidFill>
              </a:rPr>
              <a:t>Steinegger</a:t>
            </a:r>
            <a:r>
              <a:rPr sz="1125" b="1" dirty="0">
                <a:solidFill>
                  <a:srgbClr val="FFFFFF"/>
                </a:solidFill>
              </a:rPr>
              <a:t> David</a:t>
            </a:r>
          </a:p>
        </p:txBody>
      </p:sp>
      <p:pic>
        <p:nvPicPr>
          <p:cNvPr id="12301" name="Picture 2">
            <a:extLst>
              <a:ext uri="{FF2B5EF4-FFF2-40B4-BE49-F238E27FC236}">
                <a16:creationId xmlns:a16="http://schemas.microsoft.com/office/drawing/2014/main" id="{986B124F-9C71-452D-A365-D569B0598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1720850"/>
            <a:ext cx="624522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8fef34b-cee2-473e-8e19-b4818b439ed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02923C213E1D49B0FE43BB7EB42906" ma:contentTypeVersion="8" ma:contentTypeDescription="Ein neues Dokument erstellen." ma:contentTypeScope="" ma:versionID="c46b7a8699be54e3710915ff2e7a442d">
  <xsd:schema xmlns:xsd="http://www.w3.org/2001/XMLSchema" xmlns:xs="http://www.w3.org/2001/XMLSchema" xmlns:p="http://schemas.microsoft.com/office/2006/metadata/properties" xmlns:ns2="58fef34b-cee2-473e-8e19-b4818b439ed4" targetNamespace="http://schemas.microsoft.com/office/2006/metadata/properties" ma:root="true" ma:fieldsID="c5bc109d869a2916640718cb589aec60" ns2:_="">
    <xsd:import namespace="58fef34b-cee2-473e-8e19-b4818b439e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ef34b-cee2-473e-8e19-b4818b439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d9c9a3a7-e475-46cf-b7fa-059ab0d6b7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411CF0-AB01-447C-96A7-498F8696AC3B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58fef34b-cee2-473e-8e19-b4818b439ed4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CD3032-BAFF-4CD6-8758-84E5C7EF65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fef34b-cee2-473e-8e19-b4818b439e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DD9431-34F3-44E6-BF94-0EE86E13DD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Office PowerPoint</Application>
  <PresentationFormat>Widescreen</PresentationFormat>
  <Paragraphs>191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Roithmeier Andrea</dc:creator>
  <cp:keywords/>
  <dc:description>generated using python-pptx</dc:description>
  <cp:lastModifiedBy>Andrea Roithmeier</cp:lastModifiedBy>
  <cp:revision>25</cp:revision>
  <dcterms:created xsi:type="dcterms:W3CDTF">2013-01-27T09:14:16Z</dcterms:created>
  <dcterms:modified xsi:type="dcterms:W3CDTF">2026-10-20T08:57:36Z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0x0101008302923C213E1D49B0FE43BB7EB42906</vt:lpwstr>
  </property>
  <property fmtid="{D5CDD505-2E9C-101B-9397-08002B2CF9AE}" pid="3" name="MediaServiceImageTags">
    <vt:lpwstr/>
  </property>
</Properties>
</file>